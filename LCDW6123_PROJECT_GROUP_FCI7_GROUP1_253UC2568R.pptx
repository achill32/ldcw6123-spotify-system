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3260"/>
  </p:normalViewPr>
  <p:slideViewPr>
    <p:cSldViewPr snapToGrid="0" snapToObjects="1">
      <p:cViewPr>
        <p:scale>
          <a:sx n="74" d="100"/>
          <a:sy n="74" d="100"/>
        </p:scale>
        <p:origin x="986" y="1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B3846E27-EE21-6844-92D3-2CBC033E4BCE}"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1436668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B3846E27-EE21-6844-92D3-2CBC033E4BCE}"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4080347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B3846E27-EE21-6844-92D3-2CBC033E4BCE}"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802697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B3846E27-EE21-6844-92D3-2CBC033E4BCE}"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2326625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B3846E27-EE21-6844-92D3-2CBC033E4BCE}"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340180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B3846E27-EE21-6844-92D3-2CBC033E4BCE}"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2202444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846E27-EE21-6844-92D3-2CBC033E4BCE}"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300897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B3846E27-EE21-6844-92D3-2CBC033E4BCE}"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3717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B3846E27-EE21-6844-92D3-2CBC033E4BCE}"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2606051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B3846E27-EE21-6844-92D3-2CBC033E4BCE}"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4161849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B3846E27-EE21-6844-92D3-2CBC033E4BCE}"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34015-6CB9-5640-830F-8BCF5286E32B}" type="slidenum">
              <a:rPr lang="en-US" smtClean="0"/>
              <a:t>‹#›</a:t>
            </a:fld>
            <a:endParaRPr lang="en-US"/>
          </a:p>
        </p:txBody>
      </p:sp>
    </p:spTree>
    <p:extLst>
      <p:ext uri="{BB962C8B-B14F-4D97-AF65-F5344CB8AC3E}">
        <p14:creationId xmlns:p14="http://schemas.microsoft.com/office/powerpoint/2010/main" val="1610479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846E27-EE21-6844-92D3-2CBC033E4BCE}"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34015-6CB9-5640-830F-8BCF5286E32B}" type="slidenum">
              <a:rPr lang="en-US" smtClean="0"/>
              <a:t>‹#›</a:t>
            </a:fld>
            <a:endParaRPr lang="en-US"/>
          </a:p>
        </p:txBody>
      </p:sp>
    </p:spTree>
    <p:extLst>
      <p:ext uri="{BB962C8B-B14F-4D97-AF65-F5344CB8AC3E}">
        <p14:creationId xmlns:p14="http://schemas.microsoft.com/office/powerpoint/2010/main" val="4143059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www.google.com/search?q=https://newsroom.spotify.com/2019-02-06/audio-first/" TargetMode="External"/><Relationship Id="rId7" Type="http://schemas.openxmlformats.org/officeDocument/2006/relationships/hyperlink" Target="https://realnetworks.com/press/releases/2020/major-milestones-25-years-streaming" TargetMode="External"/><Relationship Id="rId2" Type="http://schemas.openxmlformats.org/officeDocument/2006/relationships/hyperlink" Target="https://www.apple.com/newsroom/2003/04/28Apple-Launches-the-iTunes-Music-Store/" TargetMode="External"/><Relationship Id="rId1" Type="http://schemas.openxmlformats.org/officeDocument/2006/relationships/slideLayout" Target="../slideLayouts/slideLayout6.xml"/><Relationship Id="rId6" Type="http://schemas.openxmlformats.org/officeDocument/2006/relationships/hyperlink" Target="https://www.ifpi.org/wp-content/uploads/2024/04/GMR_2024_State_of_the_Industry.pdf" TargetMode="External"/><Relationship Id="rId5" Type="http://schemas.openxmlformats.org/officeDocument/2006/relationships/hyperlink" Target="https://www.google.com/search?q=https://www.musikindustrie.de/fileadmin/bvmi/upload/06_Publikationen/DMR/ifpi_digital-music-report-2009.pdf" TargetMode="External"/><Relationship Id="rId4" Type="http://schemas.openxmlformats.org/officeDocument/2006/relationships/hyperlink" Target="https://www.iis.fraunhofer.de/en/magazin/panorama/2025/30-years-of-mp3.html"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newsroom.spotify.com/spotify-timeline/" TargetMode="External"/><Relationship Id="rId7" Type="http://schemas.openxmlformats.org/officeDocument/2006/relationships/hyperlink" Target="https://engineering.atspotify.com/2021/04/building-the-future-of-our-desktop-apps" TargetMode="External"/><Relationship Id="rId2" Type="http://schemas.openxmlformats.org/officeDocument/2006/relationships/hyperlink" Target="https://www.google.com/search?q=https://journals.sagepub.com/doi/10.1509/jmkg.72.1.001%3Futm_source%3Dchatgpt.com%26__cf_chl_tk%3DTd6U3UZbgVgaJYxZoS83Y2rGK_UCxEa_6zMM32HHhVo-1790693347-1.0.1.1-JA8uyR61pF72NwVpyLCZRPO6q3ZwcdPh2fLXaX6Q9I" TargetMode="External"/><Relationship Id="rId1" Type="http://schemas.openxmlformats.org/officeDocument/2006/relationships/slideLayout" Target="../slideLayouts/slideLayout6.xml"/><Relationship Id="rId6" Type="http://schemas.openxmlformats.org/officeDocument/2006/relationships/hyperlink" Target="https://newsroom.spotify.com/2026-03-03/spotify-20th-anniversary-sxsw/" TargetMode="External"/><Relationship Id="rId5" Type="http://schemas.openxmlformats.org/officeDocument/2006/relationships/hyperlink" Target="https://newsroom.spotify.com/2023-02-01/spotifys-journey-to-200-million-subscribers/" TargetMode="External"/><Relationship Id="rId4" Type="http://schemas.openxmlformats.org/officeDocument/2006/relationships/hyperlink" Target="https://20240604t163106-dot-pr-newsroom-wp.uc.r.appspot.com/2019-02-06/audio-first/"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universalmusic.com/spotify-and-universal-music-group-announce-global-multi-year-license-agreement/" TargetMode="External"/><Relationship Id="rId2" Type="http://schemas.openxmlformats.org/officeDocument/2006/relationships/hyperlink" Target="https://engineering.atspotify.com/2021/8/four-lessons-we-learned-from-creating-spotifys-desktop-app" TargetMode="External"/><Relationship Id="rId1" Type="http://schemas.openxmlformats.org/officeDocument/2006/relationships/slideLayout" Target="../slideLayouts/slideLayout6.xml"/><Relationship Id="rId5" Type="http://schemas.openxmlformats.org/officeDocument/2006/relationships/hyperlink" Target="https://www.routledge.com/Media-Technology-and-Society-A-History-From-the-Printing-Press-to-the-Superhighway/Winston/p/book/9780415142304" TargetMode="External"/><Relationship Id="rId4" Type="http://schemas.openxmlformats.org/officeDocument/2006/relationships/hyperlink" Target="https://www.google.com/search?q=https://doi.org/10.1086/66315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ounded Rectangle 3"/>
          <p:cNvSpPr>
            <a:spLocks/>
          </p:cNvSpPr>
          <p:nvPr/>
        </p:nvSpPr>
        <p:spPr>
          <a:xfrm>
            <a:off x="5198287" y="2770278"/>
            <a:ext cx="3676252" cy="2302819"/>
          </a:xfrm>
          <a:prstGeom prst="roundRect">
            <a:avLst>
              <a:gd name="adj" fmla="val 5970"/>
            </a:avLst>
          </a:prstGeom>
          <a:solidFill>
            <a:schemeClr val="tx1">
              <a:lumMod val="65000"/>
              <a:lumOff val="35000"/>
            </a:schemeClr>
          </a:solidFill>
          <a:ln w="9525">
            <a:solidFill>
              <a:srgbClr val="28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dirty="0"/>
          </a:p>
        </p:txBody>
      </p:sp>
      <p:sp>
        <p:nvSpPr>
          <p:cNvPr id="2" name="Rectangle 1"/>
          <p:cNvSpPr/>
          <p:nvPr/>
        </p:nvSpPr>
        <p:spPr>
          <a:xfrm>
            <a:off x="457200" y="5407819"/>
            <a:ext cx="8229600" cy="2500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ounded Rectangle 2"/>
          <p:cNvSpPr/>
          <p:nvPr/>
        </p:nvSpPr>
        <p:spPr>
          <a:xfrm>
            <a:off x="6572250" y="1200151"/>
            <a:ext cx="2114550" cy="278606"/>
          </a:xfrm>
          <a:prstGeom prst="roundRect">
            <a:avLst>
              <a:gd name="adj" fmla="val 50000"/>
            </a:avLst>
          </a:prstGeom>
          <a:solidFill>
            <a:srgbClr val="181818"/>
          </a:solidFill>
          <a:ln w="9525">
            <a:solidFill>
              <a:srgbClr val="28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457200" y="5407819"/>
            <a:ext cx="8229600" cy="7144"/>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flipV="1">
            <a:off x="5301405" y="3550776"/>
            <a:ext cx="3470016" cy="19145"/>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8" name="Picture 7" descr="image.png"/>
          <p:cNvPicPr>
            <a:picLocks noChangeAspect="1"/>
          </p:cNvPicPr>
          <p:nvPr/>
        </p:nvPicPr>
        <p:blipFill>
          <a:blip r:embed="rId2"/>
          <a:stretch>
            <a:fillRect/>
          </a:stretch>
        </p:blipFill>
        <p:spPr>
          <a:xfrm>
            <a:off x="5362675" y="2909982"/>
            <a:ext cx="135731" cy="100013"/>
          </a:xfrm>
          <a:prstGeom prst="rect">
            <a:avLst/>
          </a:prstGeom>
        </p:spPr>
      </p:pic>
      <p:sp>
        <p:nvSpPr>
          <p:cNvPr id="9" name="TextBox 8"/>
          <p:cNvSpPr txBox="1"/>
          <p:nvPr/>
        </p:nvSpPr>
        <p:spPr>
          <a:xfrm>
            <a:off x="6700837" y="1257300"/>
            <a:ext cx="1928813" cy="121252"/>
          </a:xfrm>
          <a:prstGeom prst="rect">
            <a:avLst/>
          </a:prstGeom>
          <a:noFill/>
        </p:spPr>
        <p:txBody>
          <a:bodyPr wrap="square" lIns="0" tIns="0" rIns="0" bIns="0" anchor="t">
            <a:spAutoFit/>
          </a:bodyPr>
          <a:lstStyle/>
          <a:p>
            <a:pPr algn="l"/>
            <a:r>
              <a:rPr sz="788" b="1" dirty="0">
                <a:solidFill>
                  <a:srgbClr val="B3B3B3"/>
                </a:solidFill>
                <a:latin typeface="Plus Jakarta Sans"/>
              </a:rPr>
              <a:t>GROUP NUMBER: </a:t>
            </a:r>
            <a:r>
              <a:rPr sz="788" b="1" dirty="0">
                <a:solidFill>
                  <a:srgbClr val="1DB954"/>
                </a:solidFill>
                <a:latin typeface="Plus Jakarta Sans"/>
              </a:rPr>
              <a:t>[</a:t>
            </a:r>
            <a:r>
              <a:rPr lang="en-MY" sz="788" b="1" dirty="0">
                <a:solidFill>
                  <a:srgbClr val="1DB954"/>
                </a:solidFill>
                <a:latin typeface="Plus Jakarta Sans"/>
              </a:rPr>
              <a:t>Group 1 ]</a:t>
            </a:r>
            <a:endParaRPr sz="788" b="1" dirty="0">
              <a:solidFill>
                <a:srgbClr val="1DB954"/>
              </a:solidFill>
              <a:latin typeface="Plus Jakarta Sans"/>
            </a:endParaRPr>
          </a:p>
        </p:txBody>
      </p:sp>
      <p:sp>
        <p:nvSpPr>
          <p:cNvPr id="10" name="TextBox 9"/>
          <p:cNvSpPr txBox="1"/>
          <p:nvPr/>
        </p:nvSpPr>
        <p:spPr>
          <a:xfrm>
            <a:off x="457200" y="5529263"/>
            <a:ext cx="1966885" cy="121252"/>
          </a:xfrm>
          <a:prstGeom prst="rect">
            <a:avLst/>
          </a:prstGeom>
          <a:noFill/>
        </p:spPr>
        <p:txBody>
          <a:bodyPr wrap="none" lIns="0" tIns="0" rIns="0" bIns="0" anchor="t">
            <a:spAutoFit/>
          </a:bodyPr>
          <a:lstStyle/>
          <a:p>
            <a:pPr algn="l"/>
            <a:r>
              <a:rPr sz="788">
                <a:solidFill>
                  <a:srgbClr val="888888"/>
                </a:solidFill>
                <a:latin typeface="Plus Jakarta Sans"/>
              </a:rPr>
              <a:t>Faculty of Computing &amp; Information Technology</a:t>
            </a:r>
          </a:p>
        </p:txBody>
      </p:sp>
      <p:sp>
        <p:nvSpPr>
          <p:cNvPr id="11" name="TextBox 10"/>
          <p:cNvSpPr txBox="1"/>
          <p:nvPr/>
        </p:nvSpPr>
        <p:spPr>
          <a:xfrm>
            <a:off x="7565231" y="5529263"/>
            <a:ext cx="968214" cy="121252"/>
          </a:xfrm>
          <a:prstGeom prst="rect">
            <a:avLst/>
          </a:prstGeom>
          <a:noFill/>
        </p:spPr>
        <p:txBody>
          <a:bodyPr wrap="none" lIns="0" tIns="0" rIns="0" bIns="0" anchor="t">
            <a:spAutoFit/>
          </a:bodyPr>
          <a:lstStyle/>
          <a:p>
            <a:pPr algn="l"/>
            <a:r>
              <a:rPr sz="788" b="1">
                <a:solidFill>
                  <a:srgbClr val="1DB954"/>
                </a:solidFill>
                <a:latin typeface="Plus Jakarta Sans"/>
              </a:rPr>
              <a:t>Academic Presentation</a:t>
            </a:r>
          </a:p>
        </p:txBody>
      </p:sp>
      <p:sp>
        <p:nvSpPr>
          <p:cNvPr id="13" name="TextBox 12"/>
          <p:cNvSpPr txBox="1"/>
          <p:nvPr/>
        </p:nvSpPr>
        <p:spPr>
          <a:xfrm>
            <a:off x="457200" y="2677567"/>
            <a:ext cx="3206006" cy="121252"/>
          </a:xfrm>
          <a:prstGeom prst="rect">
            <a:avLst/>
          </a:prstGeom>
          <a:noFill/>
        </p:spPr>
        <p:txBody>
          <a:bodyPr wrap="none" lIns="0" tIns="0" rIns="0" bIns="0" anchor="t">
            <a:spAutoFit/>
          </a:bodyPr>
          <a:lstStyle/>
          <a:p>
            <a:pPr algn="l"/>
            <a:r>
              <a:rPr sz="788" b="1">
                <a:solidFill>
                  <a:srgbClr val="1DB954"/>
                </a:solidFill>
                <a:latin typeface="Plus Jakarta Sans"/>
              </a:rPr>
              <a:t>LDCW6123 - FUNDAMENTALS OF DIGITAL COMPETENCE FOR PROGRAMMER</a:t>
            </a:r>
          </a:p>
        </p:txBody>
      </p:sp>
      <p:sp>
        <p:nvSpPr>
          <p:cNvPr id="14" name="TextBox 13"/>
          <p:cNvSpPr txBox="1"/>
          <p:nvPr/>
        </p:nvSpPr>
        <p:spPr>
          <a:xfrm>
            <a:off x="457200" y="2891880"/>
            <a:ext cx="4818649" cy="397545"/>
          </a:xfrm>
          <a:prstGeom prst="rect">
            <a:avLst/>
          </a:prstGeom>
          <a:noFill/>
        </p:spPr>
        <p:txBody>
          <a:bodyPr wrap="square" lIns="0" tIns="0" rIns="0" bIns="0" anchor="t">
            <a:spAutoFit/>
          </a:bodyPr>
          <a:lstStyle/>
          <a:p>
            <a:pPr>
              <a:lnSpc>
                <a:spcPts val="3105"/>
              </a:lnSpc>
            </a:pPr>
            <a:r>
              <a:rPr sz="2700" b="1" dirty="0">
                <a:solidFill>
                  <a:schemeClr val="bg1"/>
                </a:solidFill>
                <a:latin typeface="Plus Jakarta Sans"/>
              </a:rPr>
              <a:t>Spotify Brian Winston's Models</a:t>
            </a:r>
          </a:p>
        </p:txBody>
      </p:sp>
      <p:sp>
        <p:nvSpPr>
          <p:cNvPr id="16" name="TextBox 15"/>
          <p:cNvSpPr txBox="1"/>
          <p:nvPr/>
        </p:nvSpPr>
        <p:spPr>
          <a:xfrm>
            <a:off x="5362675" y="2907507"/>
            <a:ext cx="925734" cy="121252"/>
          </a:xfrm>
          <a:prstGeom prst="rect">
            <a:avLst/>
          </a:prstGeom>
          <a:noFill/>
        </p:spPr>
        <p:txBody>
          <a:bodyPr wrap="none" lIns="192881" tIns="0" rIns="0" bIns="0" anchor="t">
            <a:spAutoFit/>
          </a:bodyPr>
          <a:lstStyle/>
          <a:p>
            <a:pPr algn="l"/>
            <a:r>
              <a:rPr sz="788" b="1" dirty="0">
                <a:solidFill>
                  <a:srgbClr val="1DB954"/>
                </a:solidFill>
                <a:latin typeface="Plus Jakarta Sans"/>
              </a:rPr>
              <a:t>PROJECT DETAILS</a:t>
            </a:r>
          </a:p>
        </p:txBody>
      </p:sp>
      <p:sp>
        <p:nvSpPr>
          <p:cNvPr id="17" name="TextBox 16"/>
          <p:cNvSpPr txBox="1"/>
          <p:nvPr/>
        </p:nvSpPr>
        <p:spPr>
          <a:xfrm>
            <a:off x="5362675" y="3103757"/>
            <a:ext cx="654025" cy="112467"/>
          </a:xfrm>
          <a:prstGeom prst="rect">
            <a:avLst/>
          </a:prstGeom>
          <a:noFill/>
        </p:spPr>
        <p:txBody>
          <a:bodyPr wrap="none" lIns="0" tIns="0" rIns="0" bIns="0" anchor="t">
            <a:spAutoFit/>
          </a:bodyPr>
          <a:lstStyle/>
          <a:p>
            <a:pPr algn="l"/>
            <a:r>
              <a:rPr sz="731" dirty="0">
                <a:solidFill>
                  <a:schemeClr val="bg1"/>
                </a:solidFill>
                <a:latin typeface="Plus Jakarta Sans"/>
              </a:rPr>
              <a:t>LECTURER NAME</a:t>
            </a:r>
          </a:p>
        </p:txBody>
      </p:sp>
      <p:sp>
        <p:nvSpPr>
          <p:cNvPr id="18" name="TextBox 17"/>
          <p:cNvSpPr txBox="1"/>
          <p:nvPr/>
        </p:nvSpPr>
        <p:spPr>
          <a:xfrm>
            <a:off x="5365187" y="3255099"/>
            <a:ext cx="1086836" cy="138499"/>
          </a:xfrm>
          <a:prstGeom prst="rect">
            <a:avLst/>
          </a:prstGeom>
          <a:noFill/>
        </p:spPr>
        <p:txBody>
          <a:bodyPr wrap="none" lIns="0" tIns="0" rIns="0" bIns="0" anchor="t">
            <a:spAutoFit/>
          </a:bodyPr>
          <a:lstStyle/>
          <a:p>
            <a:r>
              <a:rPr lang="en-MY" sz="900" dirty="0">
                <a:solidFill>
                  <a:schemeClr val="bg1"/>
                </a:solidFill>
              </a:rPr>
              <a:t>V Segaran A/L </a:t>
            </a:r>
            <a:r>
              <a:rPr lang="en-MY" sz="900" dirty="0" err="1">
                <a:solidFill>
                  <a:schemeClr val="bg1"/>
                </a:solidFill>
              </a:rPr>
              <a:t>Veeraya</a:t>
            </a:r>
            <a:r>
              <a:rPr lang="en-MY" sz="900" dirty="0">
                <a:solidFill>
                  <a:schemeClr val="bg1"/>
                </a:solidFill>
              </a:rPr>
              <a:t> </a:t>
            </a:r>
            <a:endParaRPr sz="900" b="1" dirty="0">
              <a:solidFill>
                <a:schemeClr val="bg1"/>
              </a:solidFill>
              <a:latin typeface="Plus Jakarta Sans"/>
            </a:endParaRPr>
          </a:p>
        </p:txBody>
      </p:sp>
      <p:sp>
        <p:nvSpPr>
          <p:cNvPr id="19" name="TextBox 18"/>
          <p:cNvSpPr txBox="1"/>
          <p:nvPr/>
        </p:nvSpPr>
        <p:spPr>
          <a:xfrm>
            <a:off x="5386026" y="3652644"/>
            <a:ext cx="1250342" cy="112467"/>
          </a:xfrm>
          <a:prstGeom prst="rect">
            <a:avLst/>
          </a:prstGeom>
          <a:noFill/>
        </p:spPr>
        <p:txBody>
          <a:bodyPr wrap="none" lIns="0" tIns="0" rIns="0" bIns="0" anchor="t">
            <a:spAutoFit/>
          </a:bodyPr>
          <a:lstStyle/>
          <a:p>
            <a:pPr algn="l"/>
            <a:r>
              <a:rPr sz="731" dirty="0">
                <a:solidFill>
                  <a:schemeClr val="bg1"/>
                </a:solidFill>
                <a:latin typeface="Plus Jakarta Sans"/>
              </a:rPr>
              <a:t>TEAM MEMBERS &amp; STUDENT IDs</a:t>
            </a:r>
          </a:p>
        </p:txBody>
      </p:sp>
      <p:sp>
        <p:nvSpPr>
          <p:cNvPr id="20" name="TextBox 19"/>
          <p:cNvSpPr txBox="1"/>
          <p:nvPr/>
        </p:nvSpPr>
        <p:spPr>
          <a:xfrm>
            <a:off x="5365187" y="3845780"/>
            <a:ext cx="2489464" cy="123111"/>
          </a:xfrm>
          <a:prstGeom prst="rect">
            <a:avLst/>
          </a:prstGeom>
          <a:noFill/>
        </p:spPr>
        <p:txBody>
          <a:bodyPr wrap="square" lIns="0" tIns="0" rIns="0" bIns="0" anchor="t">
            <a:spAutoFit/>
          </a:bodyPr>
          <a:lstStyle/>
          <a:p>
            <a:r>
              <a:rPr sz="788" dirty="0">
                <a:solidFill>
                  <a:schemeClr val="bg1"/>
                </a:solidFill>
                <a:latin typeface="Plus Jakarta Sans"/>
              </a:rPr>
              <a:t>1. [</a:t>
            </a:r>
            <a:r>
              <a:rPr lang="en-MY" sz="800" dirty="0">
                <a:solidFill>
                  <a:schemeClr val="bg1"/>
                </a:solidFill>
              </a:rPr>
              <a:t>MUHAMMAD HAFIZUDDIN BIN MOHD KHALIL AL FARID </a:t>
            </a:r>
            <a:r>
              <a:rPr sz="788" dirty="0">
                <a:solidFill>
                  <a:schemeClr val="bg1"/>
                </a:solidFill>
                <a:latin typeface="Plus Jakarta Sans"/>
              </a:rPr>
              <a:t>]</a:t>
            </a:r>
          </a:p>
        </p:txBody>
      </p:sp>
      <p:sp>
        <p:nvSpPr>
          <p:cNvPr id="21" name="TextBox 20"/>
          <p:cNvSpPr txBox="1"/>
          <p:nvPr/>
        </p:nvSpPr>
        <p:spPr>
          <a:xfrm>
            <a:off x="8024433" y="3840008"/>
            <a:ext cx="740587" cy="123111"/>
          </a:xfrm>
          <a:prstGeom prst="rect">
            <a:avLst/>
          </a:prstGeom>
          <a:noFill/>
        </p:spPr>
        <p:txBody>
          <a:bodyPr wrap="none" lIns="0" tIns="0" rIns="0" bIns="0" anchor="t">
            <a:spAutoFit/>
          </a:bodyPr>
          <a:lstStyle/>
          <a:p>
            <a:r>
              <a:rPr sz="788" b="1" dirty="0">
                <a:solidFill>
                  <a:srgbClr val="1DB954"/>
                </a:solidFill>
                <a:latin typeface="Plus Jakarta Sans"/>
              </a:rPr>
              <a:t>[ID:</a:t>
            </a:r>
            <a:r>
              <a:rPr lang="en-MY" sz="800" dirty="0">
                <a:solidFill>
                  <a:srgbClr val="00B050"/>
                </a:solidFill>
              </a:rPr>
              <a:t>253UC2568R</a:t>
            </a:r>
            <a:r>
              <a:rPr lang="en-MY" sz="800" dirty="0"/>
              <a:t> </a:t>
            </a:r>
            <a:r>
              <a:rPr sz="788" b="1" dirty="0">
                <a:solidFill>
                  <a:srgbClr val="1DB954"/>
                </a:solidFill>
                <a:latin typeface="Plus Jakarta Sans"/>
              </a:rPr>
              <a:t>]</a:t>
            </a:r>
          </a:p>
        </p:txBody>
      </p:sp>
      <p:sp>
        <p:nvSpPr>
          <p:cNvPr id="22" name="TextBox 21"/>
          <p:cNvSpPr txBox="1"/>
          <p:nvPr/>
        </p:nvSpPr>
        <p:spPr>
          <a:xfrm>
            <a:off x="5362675" y="4014859"/>
            <a:ext cx="2305118" cy="123111"/>
          </a:xfrm>
          <a:prstGeom prst="rect">
            <a:avLst/>
          </a:prstGeom>
          <a:noFill/>
        </p:spPr>
        <p:txBody>
          <a:bodyPr wrap="none" lIns="0" tIns="0" rIns="0" bIns="0" anchor="t">
            <a:spAutoFit/>
          </a:bodyPr>
          <a:lstStyle/>
          <a:p>
            <a:r>
              <a:rPr sz="788" dirty="0">
                <a:solidFill>
                  <a:srgbClr val="FFFFFF"/>
                </a:solidFill>
                <a:latin typeface="Plus Jakarta Sans"/>
              </a:rPr>
              <a:t>2. [</a:t>
            </a:r>
            <a:r>
              <a:rPr lang="en-MY" sz="800" dirty="0">
                <a:solidFill>
                  <a:schemeClr val="bg1"/>
                </a:solidFill>
              </a:rPr>
              <a:t>MUHAMMAD ASYRAF BIN SHAZRULNIZAM HUZAIRI</a:t>
            </a:r>
            <a:r>
              <a:rPr sz="788" dirty="0">
                <a:solidFill>
                  <a:srgbClr val="FFFFFF"/>
                </a:solidFill>
                <a:latin typeface="Plus Jakarta Sans"/>
              </a:rPr>
              <a:t>]</a:t>
            </a:r>
          </a:p>
        </p:txBody>
      </p:sp>
      <p:sp>
        <p:nvSpPr>
          <p:cNvPr id="23" name="TextBox 22"/>
          <p:cNvSpPr txBox="1"/>
          <p:nvPr/>
        </p:nvSpPr>
        <p:spPr>
          <a:xfrm>
            <a:off x="8022829" y="4007368"/>
            <a:ext cx="735779" cy="123111"/>
          </a:xfrm>
          <a:prstGeom prst="rect">
            <a:avLst/>
          </a:prstGeom>
          <a:noFill/>
        </p:spPr>
        <p:txBody>
          <a:bodyPr wrap="none" lIns="0" tIns="0" rIns="0" bIns="0" anchor="t">
            <a:spAutoFit/>
          </a:bodyPr>
          <a:lstStyle/>
          <a:p>
            <a:r>
              <a:rPr sz="788" b="1" dirty="0">
                <a:solidFill>
                  <a:srgbClr val="1DB954"/>
                </a:solidFill>
                <a:latin typeface="Plus Jakarta Sans"/>
              </a:rPr>
              <a:t>[ID: </a:t>
            </a:r>
            <a:r>
              <a:rPr lang="en-MY" sz="800" dirty="0">
                <a:solidFill>
                  <a:srgbClr val="00B050"/>
                </a:solidFill>
              </a:rPr>
              <a:t>262UC26437</a:t>
            </a:r>
            <a:r>
              <a:rPr sz="788" b="1" dirty="0">
                <a:solidFill>
                  <a:srgbClr val="1DB954"/>
                </a:solidFill>
                <a:latin typeface="Plus Jakarta Sans"/>
              </a:rPr>
              <a:t>]</a:t>
            </a:r>
          </a:p>
        </p:txBody>
      </p:sp>
      <p:sp>
        <p:nvSpPr>
          <p:cNvPr id="24" name="TextBox 23"/>
          <p:cNvSpPr txBox="1"/>
          <p:nvPr/>
        </p:nvSpPr>
        <p:spPr>
          <a:xfrm>
            <a:off x="5365187" y="4193929"/>
            <a:ext cx="1336904" cy="123111"/>
          </a:xfrm>
          <a:prstGeom prst="rect">
            <a:avLst/>
          </a:prstGeom>
          <a:noFill/>
        </p:spPr>
        <p:txBody>
          <a:bodyPr wrap="none" lIns="0" tIns="0" rIns="0" bIns="0" anchor="t">
            <a:spAutoFit/>
          </a:bodyPr>
          <a:lstStyle/>
          <a:p>
            <a:r>
              <a:rPr sz="788" dirty="0">
                <a:solidFill>
                  <a:srgbClr val="FFFFFF"/>
                </a:solidFill>
                <a:latin typeface="Plus Jakarta Sans"/>
              </a:rPr>
              <a:t>3. [</a:t>
            </a:r>
            <a:r>
              <a:rPr lang="en-MY" sz="800" dirty="0">
                <a:solidFill>
                  <a:schemeClr val="bg1"/>
                </a:solidFill>
              </a:rPr>
              <a:t>ADAM IMTIYAZ BIN AEDYLA </a:t>
            </a:r>
            <a:r>
              <a:rPr sz="788" dirty="0">
                <a:solidFill>
                  <a:srgbClr val="FFFFFF"/>
                </a:solidFill>
                <a:latin typeface="Plus Jakarta Sans"/>
              </a:rPr>
              <a:t>]</a:t>
            </a:r>
          </a:p>
        </p:txBody>
      </p:sp>
      <p:sp>
        <p:nvSpPr>
          <p:cNvPr id="25" name="TextBox 24"/>
          <p:cNvSpPr txBox="1"/>
          <p:nvPr/>
        </p:nvSpPr>
        <p:spPr>
          <a:xfrm>
            <a:off x="8026035" y="4193527"/>
            <a:ext cx="735779" cy="123111"/>
          </a:xfrm>
          <a:prstGeom prst="rect">
            <a:avLst/>
          </a:prstGeom>
          <a:noFill/>
        </p:spPr>
        <p:txBody>
          <a:bodyPr wrap="none" lIns="0" tIns="0" rIns="0" bIns="0" anchor="t">
            <a:spAutoFit/>
          </a:bodyPr>
          <a:lstStyle/>
          <a:p>
            <a:r>
              <a:rPr sz="788" b="1" dirty="0">
                <a:solidFill>
                  <a:srgbClr val="00B050"/>
                </a:solidFill>
                <a:latin typeface="Plus Jakarta Sans"/>
              </a:rPr>
              <a:t>[ID: </a:t>
            </a:r>
            <a:r>
              <a:rPr lang="en-MY" sz="800" dirty="0">
                <a:solidFill>
                  <a:srgbClr val="00B050"/>
                </a:solidFill>
              </a:rPr>
              <a:t>251UC25146</a:t>
            </a:r>
            <a:r>
              <a:rPr sz="788" b="1" dirty="0">
                <a:solidFill>
                  <a:srgbClr val="00B050"/>
                </a:solidFill>
                <a:latin typeface="Plus Jakarta Sans"/>
              </a:rPr>
              <a:t>]</a:t>
            </a:r>
          </a:p>
        </p:txBody>
      </p:sp>
      <p:sp>
        <p:nvSpPr>
          <p:cNvPr id="26" name="TextBox 25"/>
          <p:cNvSpPr txBox="1"/>
          <p:nvPr/>
        </p:nvSpPr>
        <p:spPr>
          <a:xfrm>
            <a:off x="5360270" y="4374059"/>
            <a:ext cx="1856277" cy="123111"/>
          </a:xfrm>
          <a:prstGeom prst="rect">
            <a:avLst/>
          </a:prstGeom>
          <a:noFill/>
        </p:spPr>
        <p:txBody>
          <a:bodyPr wrap="none" lIns="0" tIns="0" rIns="0" bIns="0" anchor="t">
            <a:spAutoFit/>
          </a:bodyPr>
          <a:lstStyle/>
          <a:p>
            <a:r>
              <a:rPr sz="788" dirty="0">
                <a:solidFill>
                  <a:srgbClr val="FFFFFF"/>
                </a:solidFill>
                <a:latin typeface="Plus Jakarta Sans"/>
              </a:rPr>
              <a:t>4. [</a:t>
            </a:r>
            <a:r>
              <a:rPr lang="en-MY" sz="800" dirty="0">
                <a:solidFill>
                  <a:schemeClr val="bg1"/>
                </a:solidFill>
              </a:rPr>
              <a:t>SHEHABELDEEN HASSAN MUSA MOHAM</a:t>
            </a:r>
            <a:r>
              <a:rPr sz="788" dirty="0">
                <a:solidFill>
                  <a:srgbClr val="FFFFFF"/>
                </a:solidFill>
                <a:latin typeface="Plus Jakarta Sans"/>
              </a:rPr>
              <a:t>]</a:t>
            </a:r>
          </a:p>
        </p:txBody>
      </p:sp>
      <p:sp>
        <p:nvSpPr>
          <p:cNvPr id="27" name="TextBox 26"/>
          <p:cNvSpPr txBox="1"/>
          <p:nvPr/>
        </p:nvSpPr>
        <p:spPr>
          <a:xfrm>
            <a:off x="8024432" y="4364977"/>
            <a:ext cx="745397" cy="123111"/>
          </a:xfrm>
          <a:prstGeom prst="rect">
            <a:avLst/>
          </a:prstGeom>
          <a:noFill/>
        </p:spPr>
        <p:txBody>
          <a:bodyPr wrap="none" lIns="0" tIns="0" rIns="0" bIns="0" anchor="t">
            <a:spAutoFit/>
          </a:bodyPr>
          <a:lstStyle/>
          <a:p>
            <a:r>
              <a:rPr sz="788" b="1" dirty="0">
                <a:solidFill>
                  <a:srgbClr val="00B050"/>
                </a:solidFill>
                <a:latin typeface="Plus Jakarta Sans"/>
              </a:rPr>
              <a:t>[ID: </a:t>
            </a:r>
            <a:r>
              <a:rPr lang="en-MY" sz="800" dirty="0">
                <a:solidFill>
                  <a:srgbClr val="00B050"/>
                </a:solidFill>
              </a:rPr>
              <a:t>243UC246GZ</a:t>
            </a:r>
            <a:r>
              <a:rPr sz="788" b="1" dirty="0">
                <a:solidFill>
                  <a:srgbClr val="00B050"/>
                </a:solidFill>
                <a:latin typeface="Plus Jakarta Sans"/>
              </a:rPr>
              <a:t>]</a:t>
            </a:r>
          </a:p>
        </p:txBody>
      </p:sp>
      <p:sp>
        <p:nvSpPr>
          <p:cNvPr id="30" name="Oval 29">
            <a:extLst>
              <a:ext uri="{FF2B5EF4-FFF2-40B4-BE49-F238E27FC236}">
                <a16:creationId xmlns:a16="http://schemas.microsoft.com/office/drawing/2014/main" id="{2D6D43BF-BB3D-A89E-7ECF-D89EF20F2447}"/>
              </a:ext>
            </a:extLst>
          </p:cNvPr>
          <p:cNvSpPr/>
          <p:nvPr/>
        </p:nvSpPr>
        <p:spPr>
          <a:xfrm>
            <a:off x="-874339" y="-942395"/>
            <a:ext cx="3206005" cy="3116327"/>
          </a:xfrm>
          <a:prstGeom prst="ellipse">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MY" dirty="0"/>
          </a:p>
        </p:txBody>
      </p:sp>
      <p:pic>
        <p:nvPicPr>
          <p:cNvPr id="29" name="Picture 28" descr="A blue and black logo&#10;&#10;AI-generated content may be incorrect.">
            <a:extLst>
              <a:ext uri="{FF2B5EF4-FFF2-40B4-BE49-F238E27FC236}">
                <a16:creationId xmlns:a16="http://schemas.microsoft.com/office/drawing/2014/main" id="{005F33A5-DE01-2894-FC09-0FF355B293E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28" y="615768"/>
            <a:ext cx="2009775" cy="624205"/>
          </a:xfrm>
          <a:prstGeom prst="rect">
            <a:avLst/>
          </a:prstGeom>
          <a:noFill/>
          <a:ln>
            <a:noFill/>
          </a:ln>
        </p:spPr>
      </p:pic>
      <p:sp>
        <p:nvSpPr>
          <p:cNvPr id="32" name="TextBox 31">
            <a:extLst>
              <a:ext uri="{FF2B5EF4-FFF2-40B4-BE49-F238E27FC236}">
                <a16:creationId xmlns:a16="http://schemas.microsoft.com/office/drawing/2014/main" id="{A7EC6C4B-ECC4-E7C5-186F-DEE84EEA0371}"/>
              </a:ext>
            </a:extLst>
          </p:cNvPr>
          <p:cNvSpPr txBox="1"/>
          <p:nvPr/>
        </p:nvSpPr>
        <p:spPr>
          <a:xfrm>
            <a:off x="5362675" y="4569514"/>
            <a:ext cx="1601400" cy="123111"/>
          </a:xfrm>
          <a:prstGeom prst="rect">
            <a:avLst/>
          </a:prstGeom>
          <a:noFill/>
        </p:spPr>
        <p:txBody>
          <a:bodyPr wrap="none" lIns="0" tIns="0" rIns="0" bIns="0" anchor="t">
            <a:spAutoFit/>
          </a:bodyPr>
          <a:lstStyle/>
          <a:p>
            <a:r>
              <a:rPr lang="en-MY" sz="788" dirty="0">
                <a:solidFill>
                  <a:srgbClr val="FFFFFF"/>
                </a:solidFill>
                <a:latin typeface="Plus Jakarta Sans"/>
              </a:rPr>
              <a:t>5</a:t>
            </a:r>
            <a:r>
              <a:rPr sz="788" dirty="0">
                <a:solidFill>
                  <a:srgbClr val="FFFFFF"/>
                </a:solidFill>
                <a:latin typeface="Plus Jakarta Sans"/>
              </a:rPr>
              <a:t>. [</a:t>
            </a:r>
            <a:r>
              <a:rPr lang="en-MY" sz="800" dirty="0">
                <a:solidFill>
                  <a:schemeClr val="bg1"/>
                </a:solidFill>
              </a:rPr>
              <a:t>AZAHER MOHAMED ISMAIL ADAM</a:t>
            </a:r>
            <a:r>
              <a:rPr sz="788" dirty="0">
                <a:solidFill>
                  <a:srgbClr val="FFFFFF"/>
                </a:solidFill>
                <a:latin typeface="Plus Jakarta Sans"/>
              </a:rPr>
              <a:t>]</a:t>
            </a:r>
          </a:p>
        </p:txBody>
      </p:sp>
      <p:sp>
        <p:nvSpPr>
          <p:cNvPr id="34" name="TextBox 33">
            <a:extLst>
              <a:ext uri="{FF2B5EF4-FFF2-40B4-BE49-F238E27FC236}">
                <a16:creationId xmlns:a16="http://schemas.microsoft.com/office/drawing/2014/main" id="{2F0C00B7-60A3-C9A6-4108-787797154884}"/>
              </a:ext>
            </a:extLst>
          </p:cNvPr>
          <p:cNvSpPr txBox="1"/>
          <p:nvPr/>
        </p:nvSpPr>
        <p:spPr>
          <a:xfrm>
            <a:off x="5362675" y="4774166"/>
            <a:ext cx="1288814" cy="123111"/>
          </a:xfrm>
          <a:prstGeom prst="rect">
            <a:avLst/>
          </a:prstGeom>
          <a:noFill/>
        </p:spPr>
        <p:txBody>
          <a:bodyPr wrap="none" lIns="0" tIns="0" rIns="0" bIns="0" anchor="t">
            <a:spAutoFit/>
          </a:bodyPr>
          <a:lstStyle/>
          <a:p>
            <a:r>
              <a:rPr lang="en-MY" sz="788" dirty="0">
                <a:solidFill>
                  <a:srgbClr val="FFFFFF"/>
                </a:solidFill>
                <a:latin typeface="Plus Jakarta Sans"/>
              </a:rPr>
              <a:t>6</a:t>
            </a:r>
            <a:r>
              <a:rPr sz="788" dirty="0">
                <a:solidFill>
                  <a:srgbClr val="FFFFFF"/>
                </a:solidFill>
                <a:latin typeface="Plus Jakarta Sans"/>
              </a:rPr>
              <a:t>. [</a:t>
            </a:r>
            <a:r>
              <a:rPr lang="en-MY" sz="800" dirty="0">
                <a:solidFill>
                  <a:schemeClr val="bg1"/>
                </a:solidFill>
              </a:rPr>
              <a:t>SHAIMA SALEM ABDULLAH</a:t>
            </a:r>
            <a:r>
              <a:rPr sz="788" dirty="0">
                <a:solidFill>
                  <a:srgbClr val="FFFFFF"/>
                </a:solidFill>
                <a:latin typeface="Plus Jakarta Sans"/>
              </a:rPr>
              <a:t>]</a:t>
            </a:r>
          </a:p>
        </p:txBody>
      </p:sp>
      <p:sp>
        <p:nvSpPr>
          <p:cNvPr id="36" name="TextBox 35">
            <a:extLst>
              <a:ext uri="{FF2B5EF4-FFF2-40B4-BE49-F238E27FC236}">
                <a16:creationId xmlns:a16="http://schemas.microsoft.com/office/drawing/2014/main" id="{F958A252-7FFB-49DC-9C15-42D955CEF3C0}"/>
              </a:ext>
            </a:extLst>
          </p:cNvPr>
          <p:cNvSpPr txBox="1"/>
          <p:nvPr/>
        </p:nvSpPr>
        <p:spPr>
          <a:xfrm>
            <a:off x="8026035" y="4560472"/>
            <a:ext cx="732573" cy="123111"/>
          </a:xfrm>
          <a:prstGeom prst="rect">
            <a:avLst/>
          </a:prstGeom>
          <a:noFill/>
        </p:spPr>
        <p:txBody>
          <a:bodyPr wrap="none" lIns="0" tIns="0" rIns="0" bIns="0" anchor="t">
            <a:spAutoFit/>
          </a:bodyPr>
          <a:lstStyle/>
          <a:p>
            <a:r>
              <a:rPr sz="788" b="1" dirty="0">
                <a:solidFill>
                  <a:srgbClr val="00B050"/>
                </a:solidFill>
                <a:latin typeface="Plus Jakarta Sans"/>
              </a:rPr>
              <a:t>[ID: </a:t>
            </a:r>
            <a:r>
              <a:rPr lang="en-MY" sz="800" dirty="0">
                <a:solidFill>
                  <a:srgbClr val="00B050"/>
                </a:solidFill>
              </a:rPr>
              <a:t>262UC263SK</a:t>
            </a:r>
            <a:r>
              <a:rPr sz="788" b="1" dirty="0">
                <a:solidFill>
                  <a:srgbClr val="00B050"/>
                </a:solidFill>
                <a:latin typeface="Plus Jakarta Sans"/>
              </a:rPr>
              <a:t>]</a:t>
            </a:r>
          </a:p>
        </p:txBody>
      </p:sp>
      <p:sp>
        <p:nvSpPr>
          <p:cNvPr id="38" name="TextBox 37">
            <a:extLst>
              <a:ext uri="{FF2B5EF4-FFF2-40B4-BE49-F238E27FC236}">
                <a16:creationId xmlns:a16="http://schemas.microsoft.com/office/drawing/2014/main" id="{7CA61153-20AD-771C-736F-FEE09975BAEC}"/>
              </a:ext>
            </a:extLst>
          </p:cNvPr>
          <p:cNvSpPr txBox="1"/>
          <p:nvPr/>
        </p:nvSpPr>
        <p:spPr>
          <a:xfrm>
            <a:off x="8024432" y="4755967"/>
            <a:ext cx="777457" cy="123111"/>
          </a:xfrm>
          <a:prstGeom prst="rect">
            <a:avLst/>
          </a:prstGeom>
          <a:noFill/>
        </p:spPr>
        <p:txBody>
          <a:bodyPr wrap="none" lIns="0" tIns="0" rIns="0" bIns="0" anchor="t">
            <a:spAutoFit/>
          </a:bodyPr>
          <a:lstStyle/>
          <a:p>
            <a:r>
              <a:rPr sz="788" b="1" dirty="0">
                <a:solidFill>
                  <a:srgbClr val="1DB954"/>
                </a:solidFill>
                <a:latin typeface="Plus Jakarta Sans"/>
              </a:rPr>
              <a:t>[ID: </a:t>
            </a:r>
            <a:r>
              <a:rPr lang="en-MY" sz="800" dirty="0">
                <a:solidFill>
                  <a:srgbClr val="00B050"/>
                </a:solidFill>
              </a:rPr>
              <a:t>262UC263NB</a:t>
            </a:r>
            <a:r>
              <a:rPr sz="788" b="1" dirty="0">
                <a:solidFill>
                  <a:srgbClr val="1DB954"/>
                </a:solidFill>
                <a:latin typeface="Plus Jakarta San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3000"/>
            <a:lum/>
          </a:blip>
          <a:srcRect/>
          <a:stretch>
            <a:fillRect l="-7000" r="-7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8EC97A1-EA49-246B-EA42-E6B6CDF19E9D}"/>
              </a:ext>
            </a:extLst>
          </p:cNvPr>
          <p:cNvSpPr txBox="1"/>
          <p:nvPr/>
        </p:nvSpPr>
        <p:spPr>
          <a:xfrm>
            <a:off x="883350" y="4252809"/>
            <a:ext cx="5111657" cy="1200329"/>
          </a:xfrm>
          <a:prstGeom prst="rect">
            <a:avLst/>
          </a:prstGeom>
          <a:noFill/>
        </p:spPr>
        <p:txBody>
          <a:bodyPr wrap="square">
            <a:spAutoFit/>
          </a:bodyPr>
          <a:lstStyle/>
          <a:p>
            <a:r>
              <a:rPr lang="en-US" sz="1200" dirty="0"/>
              <a:t>Th</a:t>
            </a:r>
            <a:r>
              <a:rPr lang="en-US" sz="1000" dirty="0"/>
              <a:t>e development of MP3 in 1990 made digital music easier to store and share (</a:t>
            </a:r>
            <a:r>
              <a:rPr lang="en-US" sz="1000" dirty="0" err="1"/>
              <a:t>Fraunhoser</a:t>
            </a:r>
            <a:r>
              <a:rPr lang="en-US" sz="1000" dirty="0"/>
              <a:t> IIS, 2025), while internet streaming technology in 1995 made it possible to listen to audio online (RealNetworks, 2020).Later, iTunes allowed users to conveniently search for and purchase individual songs (Apple, 2003), while services such as Napster and </a:t>
            </a:r>
            <a:r>
              <a:rPr lang="en-US" sz="1000" dirty="0" err="1"/>
              <a:t>Kazaa</a:t>
            </a:r>
            <a:r>
              <a:rPr lang="en-US" sz="1000" dirty="0"/>
              <a:t> showed the growing demand for easy online music access but also highlighted the copyright issues. These developments helped inspire the idea of Spotify as a convenient and legal music streaming platform</a:t>
            </a:r>
          </a:p>
        </p:txBody>
      </p:sp>
      <p:sp>
        <p:nvSpPr>
          <p:cNvPr id="9" name="Oval 8">
            <a:extLst>
              <a:ext uri="{FF2B5EF4-FFF2-40B4-BE49-F238E27FC236}">
                <a16:creationId xmlns:a16="http://schemas.microsoft.com/office/drawing/2014/main" id="{B0E0658E-0181-C94A-C9AA-D8EBDC7E126D}"/>
              </a:ext>
            </a:extLst>
          </p:cNvPr>
          <p:cNvSpPr/>
          <p:nvPr/>
        </p:nvSpPr>
        <p:spPr>
          <a:xfrm>
            <a:off x="-8218" y="-340658"/>
            <a:ext cx="9231966" cy="7261412"/>
          </a:xfrm>
          <a:prstGeom prst="ellipse">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hangingPunct="0"/>
            <a:endParaRPr lang="en-US" sz="1800">
              <a:solidFill>
                <a:schemeClr val="tx1"/>
              </a:solidFill>
              <a:latin typeface="Calibri" charset="0"/>
              <a:ea typeface="ＭＳ Ｐゴシック" charset="0"/>
              <a:cs typeface="ＭＳ Ｐゴシック" charset="0"/>
            </a:endParaRPr>
          </a:p>
        </p:txBody>
      </p:sp>
      <p:cxnSp>
        <p:nvCxnSpPr>
          <p:cNvPr id="10" name="Straight Connector 9">
            <a:extLst>
              <a:ext uri="{FF2B5EF4-FFF2-40B4-BE49-F238E27FC236}">
                <a16:creationId xmlns:a16="http://schemas.microsoft.com/office/drawing/2014/main" id="{F481A1F5-0CDB-3B03-2E81-F25E3CD802D8}"/>
              </a:ext>
            </a:extLst>
          </p:cNvPr>
          <p:cNvCxnSpPr>
            <a:cxnSpLocks/>
          </p:cNvCxnSpPr>
          <p:nvPr/>
        </p:nvCxnSpPr>
        <p:spPr>
          <a:xfrm>
            <a:off x="756887" y="5403554"/>
            <a:ext cx="5165563" cy="692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BB027BE-5CD5-4E26-03C4-128E15A476E4}"/>
              </a:ext>
            </a:extLst>
          </p:cNvPr>
          <p:cNvCxnSpPr>
            <a:cxnSpLocks/>
          </p:cNvCxnSpPr>
          <p:nvPr/>
        </p:nvCxnSpPr>
        <p:spPr>
          <a:xfrm>
            <a:off x="898337" y="1691973"/>
            <a:ext cx="7255063" cy="1871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5F3F9E3-F12D-D577-BFDA-2172AB06D927}"/>
              </a:ext>
            </a:extLst>
          </p:cNvPr>
          <p:cNvCxnSpPr>
            <a:cxnSpLocks/>
          </p:cNvCxnSpPr>
          <p:nvPr/>
        </p:nvCxnSpPr>
        <p:spPr>
          <a:xfrm flipV="1">
            <a:off x="785590" y="1691973"/>
            <a:ext cx="97760" cy="371850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A20D9511-AA44-DC2A-50E9-584C774677DE}"/>
              </a:ext>
            </a:extLst>
          </p:cNvPr>
          <p:cNvSpPr/>
          <p:nvPr/>
        </p:nvSpPr>
        <p:spPr>
          <a:xfrm>
            <a:off x="972392" y="1951260"/>
            <a:ext cx="1498557" cy="1624990"/>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hangingPunct="0"/>
            <a:r>
              <a:rPr lang="en-US" sz="1000" b="1" dirty="0">
                <a:solidFill>
                  <a:schemeClr val="tx1"/>
                </a:solidFill>
                <a:latin typeface="Calibri" charset="0"/>
                <a:ea typeface="ＭＳ Ｐゴシック" charset="0"/>
                <a:cs typeface="ＭＳ Ｐゴシック" charset="0"/>
              </a:rPr>
              <a:t>PROTOTYPES</a:t>
            </a:r>
          </a:p>
          <a:p>
            <a:pPr eaLnBrk="0" hangingPunct="0"/>
            <a:r>
              <a:rPr lang="en-US" sz="1000" b="1" dirty="0">
                <a:solidFill>
                  <a:schemeClr val="tx1"/>
                </a:solidFill>
                <a:latin typeface="Calibri" charset="0"/>
                <a:ea typeface="ＭＳ Ｐゴシック" charset="0"/>
                <a:cs typeface="ＭＳ Ｐゴシック" charset="0"/>
              </a:rPr>
              <a:t>MP3 compression </a:t>
            </a:r>
            <a:r>
              <a:rPr lang="en-US" sz="1000" dirty="0">
                <a:solidFill>
                  <a:schemeClr val="tx1"/>
                </a:solidFill>
                <a:latin typeface="Calibri" charset="0"/>
                <a:ea typeface="ＭＳ Ｐゴシック" charset="0"/>
                <a:cs typeface="ＭＳ Ｐゴシック" charset="0"/>
              </a:rPr>
              <a:t>Prof Dieter Seitzer (Fraunhofer IIS, 1990).</a:t>
            </a:r>
          </a:p>
          <a:p>
            <a:pPr eaLnBrk="0" hangingPunct="0"/>
            <a:r>
              <a:rPr lang="en-US" sz="1000" b="1" dirty="0">
                <a:solidFill>
                  <a:schemeClr val="tx1"/>
                </a:solidFill>
                <a:latin typeface="Calibri" charset="0"/>
                <a:ea typeface="ＭＳ Ｐゴシック" charset="0"/>
                <a:cs typeface="ＭＳ Ｐゴシック" charset="0"/>
              </a:rPr>
              <a:t>Internet Streaming </a:t>
            </a:r>
            <a:r>
              <a:rPr lang="en-US" sz="1000" dirty="0">
                <a:solidFill>
                  <a:schemeClr val="tx1"/>
                </a:solidFill>
                <a:latin typeface="Calibri" charset="0"/>
                <a:ea typeface="ＭＳ Ｐゴシック" charset="0"/>
                <a:cs typeface="ＭＳ Ｐゴシック" charset="0"/>
              </a:rPr>
              <a:t>(RealNetworks, 2020)</a:t>
            </a:r>
          </a:p>
          <a:p>
            <a:pPr eaLnBrk="0" hangingPunct="0"/>
            <a:r>
              <a:rPr lang="en-US" sz="1000" b="1" dirty="0">
                <a:solidFill>
                  <a:schemeClr val="tx1"/>
                </a:solidFill>
                <a:latin typeface="Calibri" charset="0"/>
                <a:ea typeface="ＭＳ Ｐゴシック" charset="0"/>
                <a:cs typeface="ＭＳ Ｐゴシック" charset="0"/>
              </a:rPr>
              <a:t>File Sharing </a:t>
            </a:r>
            <a:r>
              <a:rPr lang="en-US" sz="1000" dirty="0">
                <a:solidFill>
                  <a:schemeClr val="tx1"/>
                </a:solidFill>
                <a:latin typeface="Calibri" charset="0"/>
                <a:ea typeface="ＭＳ Ｐゴシック" charset="0"/>
                <a:cs typeface="ＭＳ Ｐゴシック" charset="0"/>
              </a:rPr>
              <a:t>(Napster 1999) and (</a:t>
            </a:r>
            <a:r>
              <a:rPr lang="en-US" sz="1000" dirty="0" err="1">
                <a:solidFill>
                  <a:schemeClr val="tx1"/>
                </a:solidFill>
                <a:latin typeface="Calibri" charset="0"/>
                <a:ea typeface="ＭＳ Ｐゴシック" charset="0"/>
                <a:cs typeface="ＭＳ Ｐゴシック" charset="0"/>
              </a:rPr>
              <a:t>Kazaa</a:t>
            </a:r>
            <a:r>
              <a:rPr lang="en-US" sz="1000" dirty="0">
                <a:solidFill>
                  <a:schemeClr val="tx1"/>
                </a:solidFill>
                <a:latin typeface="Calibri" charset="0"/>
                <a:ea typeface="ＭＳ Ｐゴシック" charset="0"/>
                <a:cs typeface="ＭＳ Ｐゴシック" charset="0"/>
              </a:rPr>
              <a:t>, 2001)</a:t>
            </a:r>
            <a:br>
              <a:rPr lang="en-US" sz="1000" dirty="0">
                <a:solidFill>
                  <a:schemeClr val="tx1"/>
                </a:solidFill>
                <a:latin typeface="Calibri" charset="0"/>
                <a:ea typeface="ＭＳ Ｐゴシック" charset="0"/>
                <a:cs typeface="ＭＳ Ｐゴシック" charset="0"/>
              </a:rPr>
            </a:br>
            <a:r>
              <a:rPr lang="en-US" sz="1000" dirty="0">
                <a:solidFill>
                  <a:schemeClr val="tx1"/>
                </a:solidFill>
                <a:latin typeface="Calibri" charset="0"/>
                <a:ea typeface="ＭＳ Ｐゴシック" charset="0"/>
                <a:cs typeface="ＭＳ Ｐゴシック" charset="0"/>
              </a:rPr>
              <a:t>iTunes (2003)</a:t>
            </a:r>
          </a:p>
        </p:txBody>
      </p:sp>
      <p:sp>
        <p:nvSpPr>
          <p:cNvPr id="14" name="Rectangle 13">
            <a:extLst>
              <a:ext uri="{FF2B5EF4-FFF2-40B4-BE49-F238E27FC236}">
                <a16:creationId xmlns:a16="http://schemas.microsoft.com/office/drawing/2014/main" id="{5CBA32FE-D087-6003-0E4C-4BDEFE668943}"/>
              </a:ext>
            </a:extLst>
          </p:cNvPr>
          <p:cNvSpPr/>
          <p:nvPr/>
        </p:nvSpPr>
        <p:spPr>
          <a:xfrm>
            <a:off x="5237163" y="1787885"/>
            <a:ext cx="2362200" cy="2161913"/>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hangingPunct="0"/>
            <a:r>
              <a:rPr lang="en-US" sz="1000" b="1" dirty="0">
                <a:solidFill>
                  <a:schemeClr val="tx1"/>
                </a:solidFill>
                <a:latin typeface="Calibri" charset="0"/>
                <a:ea typeface="ＭＳ Ｐゴシック" charset="0"/>
                <a:cs typeface="ＭＳ Ｐゴシック" charset="0"/>
              </a:rPr>
              <a:t>DIFFUSION (PRODUCTION)</a:t>
            </a:r>
          </a:p>
          <a:p>
            <a:pPr eaLnBrk="0" hangingPunct="0"/>
            <a:r>
              <a:rPr lang="en-US" sz="1000" b="1" dirty="0">
                <a:solidFill>
                  <a:schemeClr val="tx1"/>
                </a:solidFill>
                <a:latin typeface="Calibri" charset="0"/>
                <a:ea typeface="ＭＳ Ｐゴシック" charset="0"/>
                <a:cs typeface="ＭＳ Ｐゴシック" charset="0"/>
              </a:rPr>
              <a:t>2008</a:t>
            </a:r>
            <a:r>
              <a:rPr lang="en-US" sz="1000" dirty="0">
                <a:solidFill>
                  <a:schemeClr val="tx1"/>
                </a:solidFill>
                <a:latin typeface="Calibri" charset="0"/>
                <a:ea typeface="ＭＳ Ｐゴシック" charset="0"/>
                <a:cs typeface="ＭＳ Ｐゴシック" charset="0"/>
              </a:rPr>
              <a:t>:Spotify Launched in Six European Countries (</a:t>
            </a:r>
            <a:r>
              <a:rPr lang="en-GB" sz="1000" dirty="0">
                <a:solidFill>
                  <a:schemeClr val="tx1"/>
                </a:solidFill>
              </a:rPr>
              <a:t>Finland, France, Norway, Spain, Sweden and the United Kingdom.)</a:t>
            </a:r>
          </a:p>
          <a:p>
            <a:pPr lvl="0"/>
            <a:r>
              <a:rPr lang="en-GB" sz="1000" b="1" dirty="0">
                <a:solidFill>
                  <a:schemeClr val="tx1"/>
                </a:solidFill>
              </a:rPr>
              <a:t>2009:</a:t>
            </a:r>
            <a:r>
              <a:rPr lang="en-GB" sz="1000" dirty="0">
                <a:solidFill>
                  <a:schemeClr val="tx1"/>
                </a:solidFill>
              </a:rPr>
              <a:t> Spotify became available on mobile phones.</a:t>
            </a:r>
            <a:endParaRPr lang="en-MY" sz="1000" dirty="0">
              <a:solidFill>
                <a:schemeClr val="tx1"/>
              </a:solidFill>
            </a:endParaRPr>
          </a:p>
          <a:p>
            <a:pPr lvl="0"/>
            <a:r>
              <a:rPr lang="en-GB" sz="1000" b="1" dirty="0">
                <a:solidFill>
                  <a:schemeClr val="tx1"/>
                </a:solidFill>
              </a:rPr>
              <a:t>2011:</a:t>
            </a:r>
            <a:r>
              <a:rPr lang="en-GB" sz="1000" dirty="0">
                <a:solidFill>
                  <a:schemeClr val="tx1"/>
                </a:solidFill>
              </a:rPr>
              <a:t> Spotify launched in the United States.</a:t>
            </a:r>
            <a:endParaRPr lang="en-MY" sz="1000" dirty="0">
              <a:solidFill>
                <a:schemeClr val="tx1"/>
              </a:solidFill>
            </a:endParaRPr>
          </a:p>
          <a:p>
            <a:pPr lvl="0"/>
            <a:r>
              <a:rPr lang="en-GB" sz="1000" b="1" dirty="0">
                <a:solidFill>
                  <a:schemeClr val="tx1"/>
                </a:solidFill>
              </a:rPr>
              <a:t>2013:</a:t>
            </a:r>
            <a:r>
              <a:rPr lang="en-GB" sz="1000" dirty="0">
                <a:solidFill>
                  <a:schemeClr val="tx1"/>
                </a:solidFill>
              </a:rPr>
              <a:t> Spotify expanded into Southeast Asia.</a:t>
            </a:r>
            <a:endParaRPr lang="en-MY" sz="1000" dirty="0">
              <a:solidFill>
                <a:schemeClr val="tx1"/>
              </a:solidFill>
            </a:endParaRPr>
          </a:p>
          <a:p>
            <a:pPr lvl="0"/>
            <a:r>
              <a:rPr lang="en-GB" sz="1000" b="1" dirty="0">
                <a:solidFill>
                  <a:schemeClr val="tx1"/>
                </a:solidFill>
              </a:rPr>
              <a:t>2023:</a:t>
            </a:r>
            <a:r>
              <a:rPr lang="en-GB" sz="1000" dirty="0">
                <a:solidFill>
                  <a:schemeClr val="tx1"/>
                </a:solidFill>
              </a:rPr>
              <a:t> Spotify reported more than 200 million subscribers and was available in over 180 markets (Spotify, n.d., 2023).</a:t>
            </a:r>
            <a:endParaRPr lang="en-MY" sz="1000" dirty="0">
              <a:solidFill>
                <a:schemeClr val="tx1"/>
              </a:solidFill>
            </a:endParaRPr>
          </a:p>
          <a:p>
            <a:pPr algn="ctr" eaLnBrk="0" hangingPunct="0"/>
            <a:endParaRPr lang="en-US" sz="1000" dirty="0">
              <a:solidFill>
                <a:schemeClr val="tx1"/>
              </a:solidFill>
              <a:latin typeface="Calibri" charset="0"/>
              <a:ea typeface="ＭＳ Ｐゴシック" charset="0"/>
              <a:cs typeface="ＭＳ Ｐゴシック" charset="0"/>
            </a:endParaRPr>
          </a:p>
        </p:txBody>
      </p:sp>
      <p:sp>
        <p:nvSpPr>
          <p:cNvPr id="15" name="Rectangle 14">
            <a:extLst>
              <a:ext uri="{FF2B5EF4-FFF2-40B4-BE49-F238E27FC236}">
                <a16:creationId xmlns:a16="http://schemas.microsoft.com/office/drawing/2014/main" id="{968E1494-9C7C-E700-E458-F2E1DDDBDD00}"/>
              </a:ext>
            </a:extLst>
          </p:cNvPr>
          <p:cNvSpPr/>
          <p:nvPr/>
        </p:nvSpPr>
        <p:spPr>
          <a:xfrm>
            <a:off x="2811694" y="1835587"/>
            <a:ext cx="1835707" cy="1722237"/>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hangingPunct="0"/>
            <a:r>
              <a:rPr lang="ja-JP" altLang="en-US" sz="1000" b="1" dirty="0">
                <a:solidFill>
                  <a:schemeClr val="tx1"/>
                </a:solidFill>
                <a:latin typeface="Calibri" charset="0"/>
                <a:ea typeface="ＭＳ Ｐゴシック" charset="0"/>
                <a:cs typeface="ＭＳ Ｐゴシック" charset="0"/>
              </a:rPr>
              <a:t>‘</a:t>
            </a:r>
            <a:r>
              <a:rPr lang="en-US" sz="1000" b="1" dirty="0">
                <a:solidFill>
                  <a:schemeClr val="tx1"/>
                </a:solidFill>
                <a:latin typeface="Calibri" charset="0"/>
                <a:ea typeface="ＭＳ Ｐゴシック" charset="0"/>
                <a:cs typeface="ＭＳ Ｐゴシック" charset="0"/>
              </a:rPr>
              <a:t>INVENTION</a:t>
            </a:r>
            <a:r>
              <a:rPr lang="ja-JP" altLang="en-US" sz="1000" b="1" dirty="0">
                <a:solidFill>
                  <a:schemeClr val="tx1"/>
                </a:solidFill>
                <a:latin typeface="Calibri" charset="0"/>
                <a:ea typeface="ＭＳ Ｐゴシック" charset="0"/>
                <a:cs typeface="ＭＳ Ｐゴシック" charset="0"/>
              </a:rPr>
              <a:t>’</a:t>
            </a:r>
            <a:endParaRPr lang="en-MY" altLang="ja-JP" sz="1000" b="1" dirty="0">
              <a:solidFill>
                <a:schemeClr val="tx1"/>
              </a:solidFill>
              <a:latin typeface="Calibri" charset="0"/>
              <a:ea typeface="ＭＳ Ｐゴシック" charset="0"/>
              <a:cs typeface="ＭＳ Ｐゴシック" charset="0"/>
            </a:endParaRPr>
          </a:p>
          <a:p>
            <a:pPr eaLnBrk="0" hangingPunct="0"/>
            <a:r>
              <a:rPr lang="en-MY" sz="1000" dirty="0">
                <a:solidFill>
                  <a:schemeClr val="tx1"/>
                </a:solidFill>
                <a:latin typeface="Calibri" charset="0"/>
                <a:ea typeface="ＭＳ Ｐゴシック" charset="0"/>
                <a:cs typeface="ＭＳ Ｐゴシック" charset="0"/>
              </a:rPr>
              <a:t>Spotify founded in 2006 by Daniel Ek and Martin </a:t>
            </a:r>
            <a:r>
              <a:rPr lang="en-MY" sz="1000" dirty="0" err="1">
                <a:solidFill>
                  <a:schemeClr val="tx1"/>
                </a:solidFill>
                <a:latin typeface="Calibri" charset="0"/>
                <a:ea typeface="ＭＳ Ｐゴシック" charset="0"/>
                <a:cs typeface="ＭＳ Ｐゴシック" charset="0"/>
              </a:rPr>
              <a:t>Lorentzon</a:t>
            </a:r>
            <a:r>
              <a:rPr lang="en-MY" sz="1000" dirty="0">
                <a:solidFill>
                  <a:schemeClr val="tx1"/>
                </a:solidFill>
                <a:latin typeface="Calibri" charset="0"/>
                <a:ea typeface="ＭＳ Ｐゴシック" charset="0"/>
                <a:cs typeface="ＭＳ Ｐゴシック" charset="0"/>
              </a:rPr>
              <a:t>.</a:t>
            </a:r>
          </a:p>
          <a:p>
            <a:pPr eaLnBrk="0" hangingPunct="0"/>
            <a:r>
              <a:rPr lang="en-MY" sz="1000" dirty="0">
                <a:solidFill>
                  <a:schemeClr val="tx1"/>
                </a:solidFill>
                <a:latin typeface="Calibri" charset="0"/>
                <a:ea typeface="ＭＳ Ｐゴシック" charset="0"/>
                <a:cs typeface="ＭＳ Ｐゴシック" charset="0"/>
              </a:rPr>
              <a:t>Securing licensing deals in 2007</a:t>
            </a:r>
            <a:br>
              <a:rPr lang="en-MY" sz="1000" dirty="0">
                <a:solidFill>
                  <a:schemeClr val="tx1"/>
                </a:solidFill>
                <a:latin typeface="Calibri" charset="0"/>
                <a:ea typeface="ＭＳ Ｐゴシック" charset="0"/>
                <a:cs typeface="ＭＳ Ｐゴシック" charset="0"/>
              </a:rPr>
            </a:br>
            <a:r>
              <a:rPr lang="en-MY" sz="1000" dirty="0">
                <a:solidFill>
                  <a:schemeClr val="tx1"/>
                </a:solidFill>
                <a:latin typeface="Calibri" charset="0"/>
                <a:ea typeface="ＭＳ Ｐゴシック" charset="0"/>
                <a:cs typeface="ＭＳ Ｐゴシック" charset="0"/>
              </a:rPr>
              <a:t> Launched the first app in 2008 in several European </a:t>
            </a:r>
            <a:r>
              <a:rPr lang="en-MY" sz="1000" dirty="0" err="1">
                <a:solidFill>
                  <a:schemeClr val="tx1"/>
                </a:solidFill>
                <a:latin typeface="Calibri" charset="0"/>
                <a:ea typeface="ＭＳ Ｐゴシック" charset="0"/>
                <a:cs typeface="ＭＳ Ｐゴシック" charset="0"/>
              </a:rPr>
              <a:t>Contries</a:t>
            </a:r>
            <a:r>
              <a:rPr lang="en-MY" sz="1000" dirty="0">
                <a:solidFill>
                  <a:schemeClr val="tx1"/>
                </a:solidFill>
                <a:latin typeface="Calibri" charset="0"/>
                <a:ea typeface="ＭＳ Ｐゴシック" charset="0"/>
                <a:cs typeface="ＭＳ Ｐゴシック" charset="0"/>
              </a:rPr>
              <a:t>.</a:t>
            </a:r>
            <a:br>
              <a:rPr lang="en-MY" sz="1000" dirty="0">
                <a:solidFill>
                  <a:schemeClr val="tx1"/>
                </a:solidFill>
                <a:latin typeface="Calibri" charset="0"/>
                <a:ea typeface="ＭＳ Ｐゴシック" charset="0"/>
                <a:cs typeface="ＭＳ Ｐゴシック" charset="0"/>
              </a:rPr>
            </a:br>
            <a:r>
              <a:rPr lang="en-MY" sz="1000" dirty="0">
                <a:solidFill>
                  <a:schemeClr val="tx1"/>
                </a:solidFill>
                <a:latin typeface="Calibri" charset="0"/>
                <a:ea typeface="ＭＳ Ｐゴシック" charset="0"/>
                <a:cs typeface="ＭＳ Ｐゴシック" charset="0"/>
              </a:rPr>
              <a:t>Introduced Music Streaming Services</a:t>
            </a:r>
          </a:p>
        </p:txBody>
      </p:sp>
      <p:sp>
        <p:nvSpPr>
          <p:cNvPr id="16" name="Rectangle 15">
            <a:extLst>
              <a:ext uri="{FF2B5EF4-FFF2-40B4-BE49-F238E27FC236}">
                <a16:creationId xmlns:a16="http://schemas.microsoft.com/office/drawing/2014/main" id="{6EC237D9-0717-D488-A252-C7D82D7C4F9C}"/>
              </a:ext>
            </a:extLst>
          </p:cNvPr>
          <p:cNvSpPr/>
          <p:nvPr/>
        </p:nvSpPr>
        <p:spPr>
          <a:xfrm>
            <a:off x="7710931" y="2760369"/>
            <a:ext cx="1295400" cy="1200329"/>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hangingPunct="0"/>
            <a:r>
              <a:rPr lang="en-US" sz="1100" b="1" dirty="0">
                <a:solidFill>
                  <a:schemeClr val="tx1"/>
                </a:solidFill>
                <a:latin typeface="Calibri" charset="0"/>
                <a:ea typeface="ＭＳ Ｐゴシック" charset="0"/>
                <a:cs typeface="ＭＳ Ｐゴシック" charset="0"/>
              </a:rPr>
              <a:t>SPIN-OFFS</a:t>
            </a:r>
          </a:p>
          <a:p>
            <a:pPr marL="171450" indent="-171450" eaLnBrk="0" hangingPunct="0">
              <a:buFont typeface="Arial" panose="020B0604020202020204" pitchFamily="34" charset="0"/>
              <a:buChar char="•"/>
            </a:pPr>
            <a:r>
              <a:rPr lang="en-US" sz="1100" dirty="0">
                <a:solidFill>
                  <a:schemeClr val="tx1"/>
                </a:solidFill>
                <a:latin typeface="Calibri" charset="0"/>
                <a:ea typeface="ＭＳ Ｐゴシック" charset="0"/>
                <a:cs typeface="ＭＳ Ｐゴシック" charset="0"/>
              </a:rPr>
              <a:t>Podcasting</a:t>
            </a:r>
          </a:p>
          <a:p>
            <a:pPr marL="171450" indent="-171450" eaLnBrk="0" hangingPunct="0">
              <a:buFont typeface="Arial" panose="020B0604020202020204" pitchFamily="34" charset="0"/>
              <a:buChar char="•"/>
            </a:pPr>
            <a:r>
              <a:rPr lang="en-US" sz="1100" dirty="0" err="1">
                <a:solidFill>
                  <a:schemeClr val="tx1"/>
                </a:solidFill>
                <a:latin typeface="Calibri" charset="0"/>
                <a:ea typeface="ＭＳ Ｐゴシック" charset="0"/>
                <a:cs typeface="ＭＳ Ｐゴシック" charset="0"/>
              </a:rPr>
              <a:t>Personnalised</a:t>
            </a:r>
            <a:r>
              <a:rPr lang="en-US" sz="1100" dirty="0">
                <a:solidFill>
                  <a:schemeClr val="tx1"/>
                </a:solidFill>
                <a:latin typeface="Calibri" charset="0"/>
                <a:ea typeface="ＭＳ Ｐゴシック" charset="0"/>
                <a:cs typeface="ＭＳ Ｐゴシック" charset="0"/>
              </a:rPr>
              <a:t> recommendation system</a:t>
            </a:r>
          </a:p>
          <a:p>
            <a:pPr marL="171450" indent="-171450" eaLnBrk="0" hangingPunct="0">
              <a:buFont typeface="Arial" panose="020B0604020202020204" pitchFamily="34" charset="0"/>
              <a:buChar char="•"/>
            </a:pPr>
            <a:r>
              <a:rPr lang="en-US" sz="1100" dirty="0">
                <a:solidFill>
                  <a:schemeClr val="tx1"/>
                </a:solidFill>
                <a:latin typeface="Calibri" charset="0"/>
                <a:ea typeface="ＭＳ Ｐゴシック" charset="0"/>
                <a:cs typeface="ＭＳ Ｐゴシック" charset="0"/>
              </a:rPr>
              <a:t>Multi Device Streaming</a:t>
            </a:r>
          </a:p>
        </p:txBody>
      </p:sp>
      <p:sp>
        <p:nvSpPr>
          <p:cNvPr id="17" name="Rectangle 16">
            <a:extLst>
              <a:ext uri="{FF2B5EF4-FFF2-40B4-BE49-F238E27FC236}">
                <a16:creationId xmlns:a16="http://schemas.microsoft.com/office/drawing/2014/main" id="{B6545675-434F-88CD-1BE4-2EDB86719712}"/>
              </a:ext>
            </a:extLst>
          </p:cNvPr>
          <p:cNvSpPr/>
          <p:nvPr/>
        </p:nvSpPr>
        <p:spPr>
          <a:xfrm>
            <a:off x="6197600" y="4113457"/>
            <a:ext cx="1828800" cy="1554383"/>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hangingPunct="0"/>
            <a:r>
              <a:rPr lang="en-US" sz="1100" dirty="0">
                <a:solidFill>
                  <a:schemeClr val="tx1"/>
                </a:solidFill>
                <a:latin typeface="Calibri" charset="0"/>
                <a:ea typeface="ＭＳ Ｐゴシック" charset="0"/>
                <a:cs typeface="ＭＳ Ｐゴシック" charset="0"/>
              </a:rPr>
              <a:t>REDUNDANCIES</a:t>
            </a:r>
          </a:p>
          <a:p>
            <a:pPr marL="171450" indent="-171450" eaLnBrk="0" hangingPunct="0">
              <a:buFont typeface="Arial" panose="020B0604020202020204" pitchFamily="34" charset="0"/>
              <a:buChar char="•"/>
            </a:pPr>
            <a:r>
              <a:rPr lang="en-US" sz="1100" dirty="0">
                <a:solidFill>
                  <a:schemeClr val="tx1"/>
                </a:solidFill>
                <a:latin typeface="Calibri" charset="0"/>
                <a:ea typeface="ＭＳ Ｐゴシック" charset="0"/>
                <a:cs typeface="ＭＳ Ｐゴシック" charset="0"/>
              </a:rPr>
              <a:t>Downloading individual MP3 files</a:t>
            </a:r>
          </a:p>
          <a:p>
            <a:pPr marL="171450" indent="-171450" eaLnBrk="0" hangingPunct="0">
              <a:buFont typeface="Arial" panose="020B0604020202020204" pitchFamily="34" charset="0"/>
              <a:buChar char="•"/>
            </a:pPr>
            <a:r>
              <a:rPr lang="en-US" sz="1100" dirty="0">
                <a:solidFill>
                  <a:schemeClr val="tx1"/>
                </a:solidFill>
                <a:latin typeface="Calibri" charset="0"/>
                <a:ea typeface="ＭＳ Ｐゴシック" charset="0"/>
                <a:cs typeface="ＭＳ Ｐゴシック" charset="0"/>
              </a:rPr>
              <a:t>Buying individual digital tracks</a:t>
            </a:r>
          </a:p>
          <a:p>
            <a:pPr marL="171450" indent="-171450" eaLnBrk="0" hangingPunct="0">
              <a:buFont typeface="Arial" panose="020B0604020202020204" pitchFamily="34" charset="0"/>
              <a:buChar char="•"/>
            </a:pPr>
            <a:r>
              <a:rPr lang="en-US" sz="1100" dirty="0">
                <a:solidFill>
                  <a:schemeClr val="tx1"/>
                </a:solidFill>
                <a:latin typeface="Calibri" charset="0"/>
                <a:ea typeface="ＭＳ Ｐゴシック" charset="0"/>
                <a:cs typeface="ＭＳ Ｐゴシック" charset="0"/>
              </a:rPr>
              <a:t>Physical Music Collections</a:t>
            </a:r>
          </a:p>
          <a:p>
            <a:pPr marL="171450" indent="-171450" eaLnBrk="0" hangingPunct="0">
              <a:buFont typeface="Arial" panose="020B0604020202020204" pitchFamily="34" charset="0"/>
              <a:buChar char="•"/>
            </a:pPr>
            <a:r>
              <a:rPr lang="en-US" sz="1100" dirty="0">
                <a:solidFill>
                  <a:schemeClr val="tx1"/>
                </a:solidFill>
                <a:latin typeface="Calibri" charset="0"/>
                <a:ea typeface="ＭＳ Ｐゴシック" charset="0"/>
                <a:cs typeface="ＭＳ Ｐゴシック" charset="0"/>
              </a:rPr>
              <a:t>Illegal Music File sharing</a:t>
            </a:r>
          </a:p>
        </p:txBody>
      </p:sp>
      <p:sp>
        <p:nvSpPr>
          <p:cNvPr id="26" name="TextBox 38">
            <a:extLst>
              <a:ext uri="{FF2B5EF4-FFF2-40B4-BE49-F238E27FC236}">
                <a16:creationId xmlns:a16="http://schemas.microsoft.com/office/drawing/2014/main" id="{7BFD9D48-8FAA-BB1A-2579-95CB34F17F59}"/>
              </a:ext>
            </a:extLst>
          </p:cNvPr>
          <p:cNvSpPr txBox="1">
            <a:spLocks noChangeArrowheads="1"/>
          </p:cNvSpPr>
          <p:nvPr/>
        </p:nvSpPr>
        <p:spPr bwMode="auto">
          <a:xfrm>
            <a:off x="1148977" y="1239565"/>
            <a:ext cx="1524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a:t>Technology</a:t>
            </a:r>
          </a:p>
        </p:txBody>
      </p:sp>
      <p:sp>
        <p:nvSpPr>
          <p:cNvPr id="27" name="TextBox 39">
            <a:extLst>
              <a:ext uri="{FF2B5EF4-FFF2-40B4-BE49-F238E27FC236}">
                <a16:creationId xmlns:a16="http://schemas.microsoft.com/office/drawing/2014/main" id="{6332F285-53B0-2C1A-7546-5FF5A8E08905}"/>
              </a:ext>
            </a:extLst>
          </p:cNvPr>
          <p:cNvSpPr txBox="1">
            <a:spLocks noChangeArrowheads="1"/>
          </p:cNvSpPr>
          <p:nvPr/>
        </p:nvSpPr>
        <p:spPr bwMode="auto">
          <a:xfrm>
            <a:off x="1056905" y="5438323"/>
            <a:ext cx="15240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000" b="1" dirty="0"/>
              <a:t>Science</a:t>
            </a:r>
          </a:p>
        </p:txBody>
      </p:sp>
      <p:sp>
        <p:nvSpPr>
          <p:cNvPr id="28" name="TextBox 40">
            <a:extLst>
              <a:ext uri="{FF2B5EF4-FFF2-40B4-BE49-F238E27FC236}">
                <a16:creationId xmlns:a16="http://schemas.microsoft.com/office/drawing/2014/main" id="{5AC05AB3-99A1-3ED4-BB6B-CD2EC06D1418}"/>
              </a:ext>
            </a:extLst>
          </p:cNvPr>
          <p:cNvSpPr txBox="1">
            <a:spLocks noChangeArrowheads="1"/>
          </p:cNvSpPr>
          <p:nvPr/>
        </p:nvSpPr>
        <p:spPr bwMode="auto">
          <a:xfrm>
            <a:off x="-10179" y="5340172"/>
            <a:ext cx="152400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dirty="0"/>
              <a:t>PAST</a:t>
            </a:r>
          </a:p>
        </p:txBody>
      </p:sp>
      <p:sp>
        <p:nvSpPr>
          <p:cNvPr id="29" name="TextBox 41">
            <a:extLst>
              <a:ext uri="{FF2B5EF4-FFF2-40B4-BE49-F238E27FC236}">
                <a16:creationId xmlns:a16="http://schemas.microsoft.com/office/drawing/2014/main" id="{3B0D3243-EFC7-83F5-2F81-10CB9C7E3641}"/>
              </a:ext>
            </a:extLst>
          </p:cNvPr>
          <p:cNvSpPr txBox="1">
            <a:spLocks noChangeArrowheads="1"/>
          </p:cNvSpPr>
          <p:nvPr/>
        </p:nvSpPr>
        <p:spPr bwMode="auto">
          <a:xfrm>
            <a:off x="8079344" y="1574965"/>
            <a:ext cx="152400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dirty="0"/>
              <a:t>FUTURE</a:t>
            </a:r>
          </a:p>
        </p:txBody>
      </p:sp>
      <p:sp>
        <p:nvSpPr>
          <p:cNvPr id="30" name="TextBox 42">
            <a:extLst>
              <a:ext uri="{FF2B5EF4-FFF2-40B4-BE49-F238E27FC236}">
                <a16:creationId xmlns:a16="http://schemas.microsoft.com/office/drawing/2014/main" id="{2F849130-2F95-AEFD-53E6-E7DB9EF21E66}"/>
              </a:ext>
            </a:extLst>
          </p:cNvPr>
          <p:cNvSpPr txBox="1">
            <a:spLocks noChangeArrowheads="1"/>
          </p:cNvSpPr>
          <p:nvPr/>
        </p:nvSpPr>
        <p:spPr bwMode="auto">
          <a:xfrm>
            <a:off x="7871993" y="-39510"/>
            <a:ext cx="1905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dirty="0"/>
              <a:t>SOCIAL SPHERE</a:t>
            </a:r>
          </a:p>
        </p:txBody>
      </p:sp>
      <p:sp>
        <p:nvSpPr>
          <p:cNvPr id="31" name="TextBox 43">
            <a:extLst>
              <a:ext uri="{FF2B5EF4-FFF2-40B4-BE49-F238E27FC236}">
                <a16:creationId xmlns:a16="http://schemas.microsoft.com/office/drawing/2014/main" id="{2A8253A3-567C-1D7D-D8FD-84B4C17D62E7}"/>
              </a:ext>
            </a:extLst>
          </p:cNvPr>
          <p:cNvSpPr txBox="1">
            <a:spLocks noChangeArrowheads="1"/>
          </p:cNvSpPr>
          <p:nvPr/>
        </p:nvSpPr>
        <p:spPr bwMode="auto">
          <a:xfrm>
            <a:off x="-8218" y="253433"/>
            <a:ext cx="19812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b="1" dirty="0"/>
              <a:t>PERFORMANCE</a:t>
            </a:r>
          </a:p>
        </p:txBody>
      </p:sp>
      <p:sp>
        <p:nvSpPr>
          <p:cNvPr id="32" name="TextBox 44">
            <a:extLst>
              <a:ext uri="{FF2B5EF4-FFF2-40B4-BE49-F238E27FC236}">
                <a16:creationId xmlns:a16="http://schemas.microsoft.com/office/drawing/2014/main" id="{63A84171-1A58-930C-5D02-34EA1C614259}"/>
              </a:ext>
            </a:extLst>
          </p:cNvPr>
          <p:cNvSpPr txBox="1">
            <a:spLocks noChangeArrowheads="1"/>
          </p:cNvSpPr>
          <p:nvPr/>
        </p:nvSpPr>
        <p:spPr bwMode="auto">
          <a:xfrm>
            <a:off x="675905" y="6452437"/>
            <a:ext cx="190500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b="1" dirty="0"/>
              <a:t>COMPETENCE</a:t>
            </a:r>
          </a:p>
        </p:txBody>
      </p:sp>
      <p:sp>
        <p:nvSpPr>
          <p:cNvPr id="33" name="TextBox 45">
            <a:extLst>
              <a:ext uri="{FF2B5EF4-FFF2-40B4-BE49-F238E27FC236}">
                <a16:creationId xmlns:a16="http://schemas.microsoft.com/office/drawing/2014/main" id="{5F34E7A1-6F09-4D1F-4093-14FAAF465D96}"/>
              </a:ext>
            </a:extLst>
          </p:cNvPr>
          <p:cNvSpPr txBox="1">
            <a:spLocks noChangeArrowheads="1"/>
          </p:cNvSpPr>
          <p:nvPr/>
        </p:nvSpPr>
        <p:spPr bwMode="auto">
          <a:xfrm>
            <a:off x="2911377" y="286341"/>
            <a:ext cx="2362200" cy="18928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100" b="1" dirty="0"/>
              <a:t>SUPERVENING SOCIAL NECESSITY</a:t>
            </a:r>
          </a:p>
          <a:p>
            <a:pPr marL="171450" indent="-171450">
              <a:buFont typeface="Arial" panose="020B0604020202020204" pitchFamily="34" charset="0"/>
              <a:buChar char="•"/>
            </a:pPr>
            <a:r>
              <a:rPr lang="en-US" sz="1100" dirty="0"/>
              <a:t>Convenient access to large music catalogues</a:t>
            </a:r>
          </a:p>
          <a:p>
            <a:pPr marL="171450" indent="-171450">
              <a:buFont typeface="Arial" panose="020B0604020202020204" pitchFamily="34" charset="0"/>
              <a:buChar char="•"/>
            </a:pPr>
            <a:r>
              <a:rPr lang="en-US" sz="1100" dirty="0"/>
              <a:t>Changing online music habits</a:t>
            </a:r>
          </a:p>
          <a:p>
            <a:pPr marL="171450" indent="-171450">
              <a:buFont typeface="Arial" panose="020B0604020202020204" pitchFamily="34" charset="0"/>
              <a:buChar char="•"/>
            </a:pPr>
            <a:r>
              <a:rPr lang="en-US" sz="1100" dirty="0"/>
              <a:t>Demand for legal music access</a:t>
            </a:r>
          </a:p>
          <a:p>
            <a:pPr marL="171450" indent="-171450">
              <a:buFont typeface="Arial" panose="020B0604020202020204" pitchFamily="34" charset="0"/>
              <a:buChar char="•"/>
            </a:pPr>
            <a:r>
              <a:rPr lang="en-US" sz="1100" dirty="0"/>
              <a:t>Piracy created industry pressure</a:t>
            </a:r>
          </a:p>
          <a:p>
            <a:pPr marL="171450" indent="-171450">
              <a:buFont typeface="Arial" panose="020B0604020202020204" pitchFamily="34" charset="0"/>
              <a:buChar char="•"/>
            </a:pPr>
            <a:r>
              <a:rPr lang="en-US" sz="1100" dirty="0"/>
              <a:t>Need for faster music discovery</a:t>
            </a:r>
          </a:p>
          <a:p>
            <a:endParaRPr lang="en-US" sz="1100" dirty="0"/>
          </a:p>
          <a:p>
            <a:endParaRPr lang="en-US" sz="1800" b="1" dirty="0"/>
          </a:p>
        </p:txBody>
      </p:sp>
      <p:sp>
        <p:nvSpPr>
          <p:cNvPr id="35" name="TextBox 47">
            <a:extLst>
              <a:ext uri="{FF2B5EF4-FFF2-40B4-BE49-F238E27FC236}">
                <a16:creationId xmlns:a16="http://schemas.microsoft.com/office/drawing/2014/main" id="{9C484E3A-265D-320E-9DD9-8DDD8A8191E5}"/>
              </a:ext>
            </a:extLst>
          </p:cNvPr>
          <p:cNvSpPr txBox="1">
            <a:spLocks noChangeArrowheads="1"/>
          </p:cNvSpPr>
          <p:nvPr/>
        </p:nvSpPr>
        <p:spPr bwMode="auto">
          <a:xfrm>
            <a:off x="5509017" y="336843"/>
            <a:ext cx="1893281"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000" b="1" dirty="0"/>
              <a:t>THE </a:t>
            </a:r>
            <a:r>
              <a:rPr lang="ja-JP" altLang="en-US" sz="1000" b="1" dirty="0"/>
              <a:t>“</a:t>
            </a:r>
            <a:r>
              <a:rPr lang="en-US" altLang="ja-JP" sz="1000" b="1" dirty="0"/>
              <a:t>LAW</a:t>
            </a:r>
            <a:r>
              <a:rPr lang="ja-JP" altLang="en-US" sz="1000" b="1" dirty="0"/>
              <a:t>”</a:t>
            </a:r>
            <a:r>
              <a:rPr lang="en-US" altLang="ja-JP" sz="1000" b="1" dirty="0"/>
              <a:t> SUPPRESSION OF RADICAL POTENTIAL</a:t>
            </a:r>
          </a:p>
          <a:p>
            <a:pPr marL="171450" indent="-171450">
              <a:buFont typeface="Arial" panose="020B0604020202020204" pitchFamily="34" charset="0"/>
              <a:buChar char="•"/>
            </a:pPr>
            <a:r>
              <a:rPr lang="en-US" sz="1000" dirty="0"/>
              <a:t>Copyright and Licensing</a:t>
            </a:r>
          </a:p>
          <a:p>
            <a:pPr marL="171450" indent="-171450">
              <a:buFont typeface="Arial" panose="020B0604020202020204" pitchFamily="34" charset="0"/>
              <a:buChar char="•"/>
            </a:pPr>
            <a:r>
              <a:rPr lang="en-US" sz="1000" dirty="0"/>
              <a:t>Music Rights-Holder agreements</a:t>
            </a:r>
          </a:p>
          <a:p>
            <a:pPr marL="171450" indent="-171450">
              <a:buFont typeface="Arial" panose="020B0604020202020204" pitchFamily="34" charset="0"/>
              <a:buChar char="•"/>
            </a:pPr>
            <a:r>
              <a:rPr lang="en-US" sz="1000" dirty="0"/>
              <a:t>Commercial Interests</a:t>
            </a:r>
          </a:p>
          <a:p>
            <a:pPr marL="171450" indent="-171450">
              <a:buFont typeface="Arial" panose="020B0604020202020204" pitchFamily="34" charset="0"/>
              <a:buChar char="•"/>
            </a:pPr>
            <a:r>
              <a:rPr lang="en-US" sz="1000" dirty="0"/>
              <a:t>Content availability restrictions</a:t>
            </a:r>
          </a:p>
        </p:txBody>
      </p:sp>
      <p:sp>
        <p:nvSpPr>
          <p:cNvPr id="38" name="TextBox 55">
            <a:extLst>
              <a:ext uri="{FF2B5EF4-FFF2-40B4-BE49-F238E27FC236}">
                <a16:creationId xmlns:a16="http://schemas.microsoft.com/office/drawing/2014/main" id="{7B7757A7-4176-3E55-73A9-D2DD3CC49337}"/>
              </a:ext>
            </a:extLst>
          </p:cNvPr>
          <p:cNvSpPr txBox="1">
            <a:spLocks noChangeArrowheads="1"/>
          </p:cNvSpPr>
          <p:nvPr/>
        </p:nvSpPr>
        <p:spPr bwMode="auto">
          <a:xfrm>
            <a:off x="982382" y="4019854"/>
            <a:ext cx="1524000"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100" b="1" dirty="0"/>
              <a:t>IDEATION</a:t>
            </a:r>
          </a:p>
        </p:txBody>
      </p:sp>
      <p:sp>
        <p:nvSpPr>
          <p:cNvPr id="44" name="TextBox 39">
            <a:extLst>
              <a:ext uri="{FF2B5EF4-FFF2-40B4-BE49-F238E27FC236}">
                <a16:creationId xmlns:a16="http://schemas.microsoft.com/office/drawing/2014/main" id="{2398D243-2C49-78A9-581F-8DBC7A4F93BA}"/>
              </a:ext>
            </a:extLst>
          </p:cNvPr>
          <p:cNvSpPr txBox="1">
            <a:spLocks noChangeArrowheads="1"/>
          </p:cNvSpPr>
          <p:nvPr/>
        </p:nvSpPr>
        <p:spPr bwMode="auto">
          <a:xfrm>
            <a:off x="2046382" y="5491974"/>
            <a:ext cx="3828490"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1000" dirty="0"/>
              <a:t>Digital audio , Mpeg-1 Audio Layer III or MP3 compression (1990), Internet Streaming (1995) , Digital music Distribution ,Napster (1999), </a:t>
            </a:r>
            <a:r>
              <a:rPr lang="en-US" sz="1000" dirty="0" err="1"/>
              <a:t>Kazaa</a:t>
            </a:r>
            <a:r>
              <a:rPr lang="en-US" sz="1000" dirty="0"/>
              <a:t> (2001), iTunes (2003) </a:t>
            </a:r>
          </a:p>
        </p:txBody>
      </p:sp>
      <p:sp>
        <p:nvSpPr>
          <p:cNvPr id="62" name="Oval 61">
            <a:extLst>
              <a:ext uri="{FF2B5EF4-FFF2-40B4-BE49-F238E27FC236}">
                <a16:creationId xmlns:a16="http://schemas.microsoft.com/office/drawing/2014/main" id="{1A622FFA-8104-9EDF-14C6-EA302398F5F0}"/>
              </a:ext>
            </a:extLst>
          </p:cNvPr>
          <p:cNvSpPr/>
          <p:nvPr/>
        </p:nvSpPr>
        <p:spPr>
          <a:xfrm>
            <a:off x="2677982" y="1738868"/>
            <a:ext cx="152400" cy="307975"/>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hangingPunct="0"/>
            <a:endParaRPr lang="en-US" sz="1800">
              <a:solidFill>
                <a:schemeClr val="tx1"/>
              </a:solidFill>
              <a:latin typeface="Calibri" charset="0"/>
              <a:ea typeface="ＭＳ Ｐゴシック" charset="0"/>
              <a:cs typeface="ＭＳ Ｐゴシック" charset="0"/>
            </a:endParaRPr>
          </a:p>
        </p:txBody>
      </p:sp>
      <p:cxnSp>
        <p:nvCxnSpPr>
          <p:cNvPr id="63" name="Straight Connector 62">
            <a:extLst>
              <a:ext uri="{FF2B5EF4-FFF2-40B4-BE49-F238E27FC236}">
                <a16:creationId xmlns:a16="http://schemas.microsoft.com/office/drawing/2014/main" id="{11065113-5D8C-F2B1-5512-D6B0A1135F51}"/>
              </a:ext>
            </a:extLst>
          </p:cNvPr>
          <p:cNvCxnSpPr>
            <a:cxnSpLocks/>
          </p:cNvCxnSpPr>
          <p:nvPr/>
        </p:nvCxnSpPr>
        <p:spPr>
          <a:xfrm flipV="1">
            <a:off x="2740076" y="623321"/>
            <a:ext cx="207753" cy="1169605"/>
          </a:xfrm>
          <a:prstGeom prst="line">
            <a:avLst/>
          </a:prstGeom>
          <a:ln w="539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D3A5F9D5-E45D-55E9-E4DF-FEE3B0119A5E}"/>
              </a:ext>
            </a:extLst>
          </p:cNvPr>
          <p:cNvSpPr/>
          <p:nvPr/>
        </p:nvSpPr>
        <p:spPr>
          <a:xfrm>
            <a:off x="5118824" y="1745224"/>
            <a:ext cx="152400" cy="307975"/>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hangingPunct="0"/>
            <a:endParaRPr lang="en-US" sz="1800">
              <a:solidFill>
                <a:schemeClr val="tx1"/>
              </a:solidFill>
              <a:latin typeface="Calibri" charset="0"/>
              <a:ea typeface="ＭＳ Ｐゴシック" charset="0"/>
              <a:cs typeface="ＭＳ Ｐゴシック" charset="0"/>
            </a:endParaRPr>
          </a:p>
        </p:txBody>
      </p:sp>
      <p:cxnSp>
        <p:nvCxnSpPr>
          <p:cNvPr id="66" name="Straight Connector 65">
            <a:extLst>
              <a:ext uri="{FF2B5EF4-FFF2-40B4-BE49-F238E27FC236}">
                <a16:creationId xmlns:a16="http://schemas.microsoft.com/office/drawing/2014/main" id="{7FC075DF-E839-F7ED-A15F-486140C4F4B1}"/>
              </a:ext>
            </a:extLst>
          </p:cNvPr>
          <p:cNvCxnSpPr>
            <a:cxnSpLocks/>
          </p:cNvCxnSpPr>
          <p:nvPr/>
        </p:nvCxnSpPr>
        <p:spPr>
          <a:xfrm flipV="1">
            <a:off x="5200711" y="513976"/>
            <a:ext cx="220560" cy="1290923"/>
          </a:xfrm>
          <a:prstGeom prst="line">
            <a:avLst/>
          </a:prstGeom>
          <a:ln w="539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90C605F1-B7C3-73AF-6D22-29F8A4308270}"/>
              </a:ext>
            </a:extLst>
          </p:cNvPr>
          <p:cNvCxnSpPr/>
          <p:nvPr/>
        </p:nvCxnSpPr>
        <p:spPr>
          <a:xfrm>
            <a:off x="7787341" y="2229224"/>
            <a:ext cx="478118" cy="3645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D3032D99-CF57-86DB-7DC3-5F7124F38FD0}"/>
              </a:ext>
            </a:extLst>
          </p:cNvPr>
          <p:cNvCxnSpPr/>
          <p:nvPr/>
        </p:nvCxnSpPr>
        <p:spPr>
          <a:xfrm>
            <a:off x="6663020" y="3916900"/>
            <a:ext cx="478118" cy="3645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04224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703E84-AD8F-C1D0-F604-5CFFE39D4E10}"/>
              </a:ext>
            </a:extLst>
          </p:cNvPr>
          <p:cNvSpPr txBox="1"/>
          <p:nvPr/>
        </p:nvSpPr>
        <p:spPr>
          <a:xfrm>
            <a:off x="426308" y="1305341"/>
            <a:ext cx="7871254" cy="4801314"/>
          </a:xfrm>
          <a:prstGeom prst="rect">
            <a:avLst/>
          </a:prstGeom>
          <a:noFill/>
        </p:spPr>
        <p:txBody>
          <a:bodyPr wrap="square">
            <a:spAutoFit/>
          </a:bodyPr>
          <a:lstStyle/>
          <a:p>
            <a:pPr lvl="0"/>
            <a:r>
              <a:rPr lang="en-MY" dirty="0"/>
              <a:t>Apple. (2003, April 28). </a:t>
            </a:r>
            <a:r>
              <a:rPr lang="en-MY" i="1" dirty="0"/>
              <a:t>Apple launches the iTunes Music Store</a:t>
            </a:r>
            <a:r>
              <a:rPr lang="en-MY" dirty="0"/>
              <a:t>. </a:t>
            </a:r>
            <a:r>
              <a:rPr lang="en-MY" dirty="0">
                <a:hlinkClick r:id="rId2"/>
              </a:rPr>
              <a:t>https://www.apple.com/newsroom/2003/04/28Apple-Launches-the-iTunes-Music-Store/</a:t>
            </a:r>
            <a:endParaRPr lang="en-MY" dirty="0"/>
          </a:p>
          <a:p>
            <a:pPr lvl="0"/>
            <a:r>
              <a:rPr lang="en-MY" dirty="0"/>
              <a:t>Ek, D. (2019, February 6). </a:t>
            </a:r>
            <a:r>
              <a:rPr lang="en-MY" i="1" dirty="0"/>
              <a:t>Audio-first</a:t>
            </a:r>
            <a:r>
              <a:rPr lang="en-MY" dirty="0"/>
              <a:t>. Spotify. </a:t>
            </a:r>
            <a:r>
              <a:rPr lang="en-MY" dirty="0">
                <a:hlinkClick r:id="rId3"/>
              </a:rPr>
              <a:t>https://newsroom.spotify.com/2019-02-06/audio-first/</a:t>
            </a:r>
            <a:endParaRPr lang="en-MY" dirty="0"/>
          </a:p>
          <a:p>
            <a:pPr lvl="0"/>
            <a:r>
              <a:rPr lang="en-MY" dirty="0"/>
              <a:t>Fraunhofer IIS. (2025). </a:t>
            </a:r>
            <a:r>
              <a:rPr lang="en-MY" i="1" dirty="0"/>
              <a:t>30 years of .mp3: Three letters that changed the world</a:t>
            </a:r>
            <a:r>
              <a:rPr lang="en-MY" dirty="0"/>
              <a:t>. </a:t>
            </a:r>
            <a:r>
              <a:rPr lang="en-MY" dirty="0">
                <a:hlinkClick r:id="rId4"/>
              </a:rPr>
              <a:t>https://www.iis.fraunhofer.de/en/magazin/panorama/2025/30-years-of-mp3.html</a:t>
            </a:r>
            <a:endParaRPr lang="en-MY" dirty="0"/>
          </a:p>
          <a:p>
            <a:pPr lvl="0"/>
            <a:r>
              <a:rPr lang="en-MY" dirty="0"/>
              <a:t>International Federation of the Phonographic Industry. (2009). </a:t>
            </a:r>
            <a:r>
              <a:rPr lang="en-MY" i="1" dirty="0"/>
              <a:t>Digital music report 2009: New business models for a changing environment</a:t>
            </a:r>
            <a:r>
              <a:rPr lang="en-MY" dirty="0"/>
              <a:t>. </a:t>
            </a:r>
            <a:r>
              <a:rPr lang="en-MY" dirty="0">
                <a:hlinkClick r:id="rId5"/>
              </a:rPr>
              <a:t>https://www.musikindustrie.de/fileadmin/bvmi/upload/06_Publikationen/DMR/ifpi_digital-music-report-2009.pdf</a:t>
            </a:r>
            <a:endParaRPr lang="en-MY" dirty="0"/>
          </a:p>
          <a:p>
            <a:pPr lvl="0"/>
            <a:r>
              <a:rPr lang="en-MY" dirty="0"/>
              <a:t>International Federation of the Phonographic Industry. (2024). </a:t>
            </a:r>
            <a:r>
              <a:rPr lang="en-MY" i="1" dirty="0"/>
              <a:t>Global music report 2024: State of the industry</a:t>
            </a:r>
            <a:r>
              <a:rPr lang="en-MY" dirty="0"/>
              <a:t>. </a:t>
            </a:r>
            <a:r>
              <a:rPr lang="en-MY" dirty="0">
                <a:hlinkClick r:id="rId6"/>
              </a:rPr>
              <a:t>https://www.ifpi.org/wp-content/uploads/2024/04/GMR_2024_State_of_the_Industry.pdf</a:t>
            </a:r>
            <a:endParaRPr lang="en-MY" dirty="0"/>
          </a:p>
          <a:p>
            <a:pPr lvl="0"/>
            <a:r>
              <a:rPr lang="en-MY" dirty="0"/>
              <a:t>RealNetworks. (2020). </a:t>
            </a:r>
            <a:r>
              <a:rPr lang="en-MY" i="1" dirty="0"/>
              <a:t>Major milestones in 25 years of streaming</a:t>
            </a:r>
            <a:r>
              <a:rPr lang="en-MY" dirty="0"/>
              <a:t>. </a:t>
            </a:r>
            <a:r>
              <a:rPr lang="en-MY" dirty="0">
                <a:hlinkClick r:id="rId7"/>
              </a:rPr>
              <a:t>https://realnetworks.com/press/releases/2020/major-milestones-25-years-streaming</a:t>
            </a:r>
            <a:endParaRPr lang="en-MY" dirty="0"/>
          </a:p>
        </p:txBody>
      </p:sp>
      <p:sp>
        <p:nvSpPr>
          <p:cNvPr id="5" name="Title 4">
            <a:extLst>
              <a:ext uri="{FF2B5EF4-FFF2-40B4-BE49-F238E27FC236}">
                <a16:creationId xmlns:a16="http://schemas.microsoft.com/office/drawing/2014/main" id="{E490185C-9D52-B983-C76F-EE3CD4775BAB}"/>
              </a:ext>
            </a:extLst>
          </p:cNvPr>
          <p:cNvSpPr>
            <a:spLocks noGrp="1"/>
          </p:cNvSpPr>
          <p:nvPr>
            <p:ph type="title"/>
          </p:nvPr>
        </p:nvSpPr>
        <p:spPr/>
        <p:txBody>
          <a:bodyPr/>
          <a:lstStyle/>
          <a:p>
            <a:r>
              <a:rPr lang="en-MY" dirty="0" err="1"/>
              <a:t>Refferences</a:t>
            </a:r>
            <a:endParaRPr lang="en-MY" dirty="0"/>
          </a:p>
        </p:txBody>
      </p:sp>
    </p:spTree>
    <p:extLst>
      <p:ext uri="{BB962C8B-B14F-4D97-AF65-F5344CB8AC3E}">
        <p14:creationId xmlns:p14="http://schemas.microsoft.com/office/powerpoint/2010/main" val="3947303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FEEA8-4F59-7F08-1AC4-5DEE671864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051241-8BB8-29B5-4D3B-204344F87A64}"/>
              </a:ext>
            </a:extLst>
          </p:cNvPr>
          <p:cNvSpPr txBox="1"/>
          <p:nvPr/>
        </p:nvSpPr>
        <p:spPr>
          <a:xfrm>
            <a:off x="426308" y="1305341"/>
            <a:ext cx="7871254" cy="5078313"/>
          </a:xfrm>
          <a:prstGeom prst="rect">
            <a:avLst/>
          </a:prstGeom>
          <a:noFill/>
        </p:spPr>
        <p:txBody>
          <a:bodyPr wrap="square">
            <a:spAutoFit/>
          </a:bodyPr>
          <a:lstStyle/>
          <a:p>
            <a:pPr lvl="0"/>
            <a:r>
              <a:rPr lang="en-MY" dirty="0"/>
              <a:t>Sinha, R. K., &amp; Mandel, N. (2008). Preventing digital music piracy: The carrot or the stick? </a:t>
            </a:r>
            <a:r>
              <a:rPr lang="en-MY" i="1" dirty="0"/>
              <a:t>Journal of Marketing</a:t>
            </a:r>
            <a:r>
              <a:rPr lang="en-MY" dirty="0"/>
              <a:t>, 72(1), 1–15. </a:t>
            </a:r>
            <a:r>
              <a:rPr lang="en-MY" dirty="0">
                <a:hlinkClick r:id="rId2"/>
              </a:rPr>
              <a:t>https://journals.sagepub.com/doi/10.1509/jmkg.72.1.001?utm_source=chatgpt.com&amp;__cf_chl_tk=Td6U3UZbgVgaJYxZoS83Y2rGK_UCxEa_6zMM32HHhVo-1790693347-1.0.1.1-JA8uyR61pF72NwVpyLCZRPO6q3ZwcdPh2fLXaX6Q9I</a:t>
            </a:r>
            <a:endParaRPr lang="en-MY" dirty="0"/>
          </a:p>
          <a:p>
            <a:pPr lvl="0"/>
            <a:r>
              <a:rPr lang="en-MY" dirty="0"/>
              <a:t>Spotify. (n.d.). </a:t>
            </a:r>
            <a:r>
              <a:rPr lang="en-MY" i="1" dirty="0"/>
              <a:t>A visual history of Spotify</a:t>
            </a:r>
            <a:r>
              <a:rPr lang="en-MY" dirty="0"/>
              <a:t>. </a:t>
            </a:r>
            <a:r>
              <a:rPr lang="en-MY" dirty="0">
                <a:hlinkClick r:id="rId3"/>
              </a:rPr>
              <a:t>https://newsroom.spotify.com/spotify-timeline/</a:t>
            </a:r>
            <a:endParaRPr lang="en-MY" dirty="0"/>
          </a:p>
          <a:p>
            <a:pPr lvl="0"/>
            <a:r>
              <a:rPr lang="en-MY" dirty="0"/>
              <a:t>Spotify. (2019, February 6). </a:t>
            </a:r>
            <a:r>
              <a:rPr lang="en-MY" i="1" dirty="0"/>
              <a:t>Audio-first</a:t>
            </a:r>
            <a:r>
              <a:rPr lang="en-MY" dirty="0"/>
              <a:t>. </a:t>
            </a:r>
            <a:r>
              <a:rPr lang="en-MY" dirty="0">
                <a:hlinkClick r:id="rId4"/>
              </a:rPr>
              <a:t>https://20240604t163106-dot-pr-newsroom-wp.uc.r.appspot.com/2019-02-06/audio-first/</a:t>
            </a:r>
            <a:endParaRPr lang="en-MY" dirty="0"/>
          </a:p>
          <a:p>
            <a:pPr lvl="0"/>
            <a:r>
              <a:rPr lang="en-MY" dirty="0"/>
              <a:t>Spotify. (2023, February 1). </a:t>
            </a:r>
            <a:r>
              <a:rPr lang="en-MY" i="1" dirty="0"/>
              <a:t>Spotify's journey to 200 million subscribers</a:t>
            </a:r>
            <a:r>
              <a:rPr lang="en-MY" dirty="0"/>
              <a:t>. </a:t>
            </a:r>
            <a:r>
              <a:rPr lang="en-MY" dirty="0">
                <a:hlinkClick r:id="rId5"/>
              </a:rPr>
              <a:t>https://newsroom.spotify.com/2023-02-01/spotifys-journey-to-200-million-subscribers/</a:t>
            </a:r>
            <a:endParaRPr lang="en-MY" dirty="0"/>
          </a:p>
          <a:p>
            <a:pPr lvl="0"/>
            <a:r>
              <a:rPr lang="en-MY" dirty="0"/>
              <a:t>Spotify. (2026, March 3). </a:t>
            </a:r>
            <a:r>
              <a:rPr lang="en-MY" i="1" dirty="0"/>
              <a:t>Spotify's 20th anniversary</a:t>
            </a:r>
            <a:r>
              <a:rPr lang="en-MY" dirty="0"/>
              <a:t>. </a:t>
            </a:r>
            <a:r>
              <a:rPr lang="en-MY" dirty="0">
                <a:hlinkClick r:id="rId6"/>
              </a:rPr>
              <a:t>https://newsroom.spotify.com/2026-03-03/spotify-20th-anniversary-sxsw/</a:t>
            </a:r>
            <a:endParaRPr lang="en-MY" dirty="0"/>
          </a:p>
          <a:p>
            <a:pPr lvl="0"/>
            <a:r>
              <a:rPr lang="en-MY" dirty="0"/>
              <a:t>Spotify Engineering. (2021, April 7). </a:t>
            </a:r>
            <a:r>
              <a:rPr lang="en-MY" i="1" dirty="0"/>
              <a:t>Building the future of our desktop apps</a:t>
            </a:r>
            <a:r>
              <a:rPr lang="en-MY" dirty="0"/>
              <a:t>. </a:t>
            </a:r>
            <a:r>
              <a:rPr lang="en-MY" dirty="0">
                <a:hlinkClick r:id="rId7"/>
              </a:rPr>
              <a:t>https://engineering.atspotify.com/2021/04/building-the-future-of-our-desktop-apps</a:t>
            </a:r>
            <a:endParaRPr lang="en-MY" dirty="0"/>
          </a:p>
          <a:p>
            <a:pPr lvl="0"/>
            <a:endParaRPr lang="en-MY" dirty="0"/>
          </a:p>
        </p:txBody>
      </p:sp>
      <p:sp>
        <p:nvSpPr>
          <p:cNvPr id="5" name="Title 4">
            <a:extLst>
              <a:ext uri="{FF2B5EF4-FFF2-40B4-BE49-F238E27FC236}">
                <a16:creationId xmlns:a16="http://schemas.microsoft.com/office/drawing/2014/main" id="{CDA56552-49BA-AFE5-82DA-339E5AA67133}"/>
              </a:ext>
            </a:extLst>
          </p:cNvPr>
          <p:cNvSpPr>
            <a:spLocks noGrp="1"/>
          </p:cNvSpPr>
          <p:nvPr>
            <p:ph type="title"/>
          </p:nvPr>
        </p:nvSpPr>
        <p:spPr/>
        <p:txBody>
          <a:bodyPr/>
          <a:lstStyle/>
          <a:p>
            <a:r>
              <a:rPr lang="en-MY" dirty="0" err="1"/>
              <a:t>Refferences</a:t>
            </a:r>
            <a:endParaRPr lang="en-MY" dirty="0"/>
          </a:p>
        </p:txBody>
      </p:sp>
    </p:spTree>
    <p:extLst>
      <p:ext uri="{BB962C8B-B14F-4D97-AF65-F5344CB8AC3E}">
        <p14:creationId xmlns:p14="http://schemas.microsoft.com/office/powerpoint/2010/main" val="2670235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61D88-AFC2-26A1-B2FD-CACE0B50F28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1E2A44-43A4-9975-03DD-E75169E7FA3C}"/>
              </a:ext>
            </a:extLst>
          </p:cNvPr>
          <p:cNvSpPr txBox="1"/>
          <p:nvPr/>
        </p:nvSpPr>
        <p:spPr>
          <a:xfrm>
            <a:off x="426308" y="1305341"/>
            <a:ext cx="7871254" cy="4247317"/>
          </a:xfrm>
          <a:prstGeom prst="rect">
            <a:avLst/>
          </a:prstGeom>
          <a:noFill/>
        </p:spPr>
        <p:txBody>
          <a:bodyPr wrap="square">
            <a:spAutoFit/>
          </a:bodyPr>
          <a:lstStyle/>
          <a:p>
            <a:pPr lvl="0"/>
            <a:r>
              <a:rPr lang="en-MY" dirty="0"/>
              <a:t>Spotify Engineering. (2021, August 4). </a:t>
            </a:r>
            <a:r>
              <a:rPr lang="en-MY" i="1" dirty="0"/>
              <a:t>Four lessons we learned from creating Spotify's desktop app</a:t>
            </a:r>
            <a:r>
              <a:rPr lang="en-MY" dirty="0"/>
              <a:t>. </a:t>
            </a:r>
            <a:r>
              <a:rPr lang="en-MY" dirty="0">
                <a:hlinkClick r:id="rId2"/>
              </a:rPr>
              <a:t>https://engineering.atspotify.com/2021/8/four-lessons-we-learned-from-creating-spotifys-desktop-app</a:t>
            </a:r>
            <a:endParaRPr lang="en-MY" dirty="0"/>
          </a:p>
          <a:p>
            <a:pPr lvl="0"/>
            <a:r>
              <a:rPr lang="en-MY" dirty="0"/>
              <a:t>Universal Music Group. (2017, April 4). </a:t>
            </a:r>
            <a:r>
              <a:rPr lang="en-MY" i="1" dirty="0"/>
              <a:t>Spotify and Universal Music Group announce global, multi-year license agreement</a:t>
            </a:r>
            <a:r>
              <a:rPr lang="en-MY" dirty="0"/>
              <a:t>. </a:t>
            </a:r>
            <a:r>
              <a:rPr lang="en-MY" dirty="0">
                <a:hlinkClick r:id="rId3"/>
              </a:rPr>
              <a:t>https://www.universalmusic.com/spotify-and-universal-music-group-announce-global-multi-year-license-agreement/</a:t>
            </a:r>
            <a:endParaRPr lang="en-MY" dirty="0"/>
          </a:p>
          <a:p>
            <a:pPr lvl="0"/>
            <a:r>
              <a:rPr lang="en-MY" dirty="0"/>
              <a:t>Waldfogel, J. (2012). Music piracy and its effects on demand, supply, and welfare. </a:t>
            </a:r>
            <a:r>
              <a:rPr lang="en-MY" i="1" dirty="0"/>
              <a:t>Innovation Policy and the Economy</a:t>
            </a:r>
            <a:r>
              <a:rPr lang="en-MY" dirty="0"/>
              <a:t>, 12(1), 91–110. </a:t>
            </a:r>
            <a:r>
              <a:rPr lang="en-MY" dirty="0">
                <a:hlinkClick r:id="rId4"/>
              </a:rPr>
              <a:t>https://doi.org/10.1086/663157</a:t>
            </a:r>
            <a:endParaRPr lang="en-MY" dirty="0"/>
          </a:p>
          <a:p>
            <a:pPr lvl="0"/>
            <a:r>
              <a:rPr lang="en-MY" dirty="0"/>
              <a:t>Winston, B. (1998). </a:t>
            </a:r>
            <a:r>
              <a:rPr lang="en-MY" i="1" dirty="0"/>
              <a:t>Media technology and society: A history from the printing press to the superhighway</a:t>
            </a:r>
            <a:r>
              <a:rPr lang="en-MY" dirty="0"/>
              <a:t>. Routledge. </a:t>
            </a:r>
            <a:r>
              <a:rPr lang="en-MY" dirty="0">
                <a:hlinkClick r:id="rId5"/>
              </a:rPr>
              <a:t>https://www.routledge.com/Media-Technology-and-Society-A-History-From-the-Printing-Press-to-the-Superhighway/Winston/p/book/978041514230</a:t>
            </a:r>
            <a:endParaRPr lang="en-MY" dirty="0"/>
          </a:p>
          <a:p>
            <a:pPr lvl="0"/>
            <a:endParaRPr lang="en-MY" dirty="0"/>
          </a:p>
        </p:txBody>
      </p:sp>
      <p:sp>
        <p:nvSpPr>
          <p:cNvPr id="5" name="Title 4">
            <a:extLst>
              <a:ext uri="{FF2B5EF4-FFF2-40B4-BE49-F238E27FC236}">
                <a16:creationId xmlns:a16="http://schemas.microsoft.com/office/drawing/2014/main" id="{CC3CDEAD-304D-E11F-898A-3BA370F7200A}"/>
              </a:ext>
            </a:extLst>
          </p:cNvPr>
          <p:cNvSpPr>
            <a:spLocks noGrp="1"/>
          </p:cNvSpPr>
          <p:nvPr>
            <p:ph type="title"/>
          </p:nvPr>
        </p:nvSpPr>
        <p:spPr/>
        <p:txBody>
          <a:bodyPr/>
          <a:lstStyle/>
          <a:p>
            <a:r>
              <a:rPr lang="en-MY" dirty="0" err="1"/>
              <a:t>Refferences</a:t>
            </a:r>
            <a:endParaRPr lang="en-MY" dirty="0"/>
          </a:p>
        </p:txBody>
      </p:sp>
    </p:spTree>
    <p:extLst>
      <p:ext uri="{BB962C8B-B14F-4D97-AF65-F5344CB8AC3E}">
        <p14:creationId xmlns:p14="http://schemas.microsoft.com/office/powerpoint/2010/main" val="280392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Dark Gradient</Template>
  <TotalTime>234</TotalTime>
  <Words>1035</Words>
  <Application>Microsoft Office PowerPoint</Application>
  <PresentationFormat>On-screen Show (4:3)</PresentationFormat>
  <Paragraphs>83</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Plus Jakarta Sans</vt:lpstr>
      <vt:lpstr>Office Theme</vt:lpstr>
      <vt:lpstr>PowerPoint Presentation</vt:lpstr>
      <vt:lpstr>PowerPoint Presentation</vt:lpstr>
      <vt:lpstr>Refferences</vt:lpstr>
      <vt:lpstr>Refferences</vt:lpstr>
      <vt:lpstr>Refferences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Winston Model</dc:title>
  <dc:creator>William Burke</dc:creator>
  <cp:lastModifiedBy>MUHAMMAD HAFIZUDDIN BIN MOHD KHALIL AL FARID</cp:lastModifiedBy>
  <cp:revision>7</cp:revision>
  <dcterms:created xsi:type="dcterms:W3CDTF">2016-02-18T03:41:07Z</dcterms:created>
  <dcterms:modified xsi:type="dcterms:W3CDTF">2026-10-01T08:03:40Z</dcterms:modified>
</cp:coreProperties>
</file>